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147481375" r:id="rId5"/>
    <p:sldId id="2147481697" r:id="rId6"/>
    <p:sldId id="2147481826" r:id="rId7"/>
    <p:sldId id="2147481948" r:id="rId8"/>
    <p:sldId id="2147481926" r:id="rId9"/>
    <p:sldId id="2147481927" r:id="rId10"/>
    <p:sldId id="2147481928" r:id="rId11"/>
    <p:sldId id="2147481938" r:id="rId12"/>
    <p:sldId id="2147481904" r:id="rId13"/>
    <p:sldId id="2147481939" r:id="rId14"/>
    <p:sldId id="2147481940" r:id="rId15"/>
    <p:sldId id="2147481941" r:id="rId16"/>
    <p:sldId id="2147481942" r:id="rId17"/>
    <p:sldId id="2147481943" r:id="rId18"/>
    <p:sldId id="2147481949" r:id="rId19"/>
    <p:sldId id="2147481950" r:id="rId20"/>
    <p:sldId id="2147481951" r:id="rId21"/>
    <p:sldId id="2147481944" r:id="rId22"/>
    <p:sldId id="2147481945" r:id="rId23"/>
    <p:sldId id="2147481946" r:id="rId24"/>
    <p:sldId id="2147481947" r:id="rId25"/>
    <p:sldId id="2147481924" r:id="rId26"/>
  </p:sldIdLst>
  <p:sldSz cx="12192000" cy="6858000"/>
  <p:notesSz cx="6797675" cy="9926638"/>
  <p:custDataLst>
    <p:tags r:id="rId29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8546AEC-89D7-43EE-A577-D105B68D39C8}">
          <p14:sldIdLst>
            <p14:sldId id="2147481375"/>
            <p14:sldId id="2147481697"/>
            <p14:sldId id="2147481826"/>
            <p14:sldId id="2147481948"/>
            <p14:sldId id="2147481926"/>
            <p14:sldId id="2147481927"/>
            <p14:sldId id="2147481928"/>
            <p14:sldId id="2147481938"/>
            <p14:sldId id="2147481904"/>
            <p14:sldId id="2147481939"/>
            <p14:sldId id="2147481940"/>
            <p14:sldId id="2147481941"/>
            <p14:sldId id="2147481942"/>
            <p14:sldId id="2147481943"/>
            <p14:sldId id="2147481949"/>
            <p14:sldId id="2147481950"/>
            <p14:sldId id="2147481951"/>
            <p14:sldId id="2147481944"/>
            <p14:sldId id="2147481945"/>
            <p14:sldId id="2147481946"/>
            <p14:sldId id="2147481947"/>
            <p14:sldId id="2147481924"/>
          </p14:sldIdLst>
        </p14:section>
        <p14:section name="첨부" id="{DF360670-66DD-4637-9BF1-593401171C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상협" initials="A" lastIdx="2" clrIdx="0">
    <p:extLst>
      <p:ext uri="{19B8F6BF-5375-455C-9EA6-DF929625EA0E}">
        <p15:presenceInfo xmlns:p15="http://schemas.microsoft.com/office/powerpoint/2012/main" userId="이상협" providerId="None"/>
      </p:ext>
    </p:extLst>
  </p:cmAuthor>
  <p:cmAuthor id="2" name="AD1907004P01" initials="A" lastIdx="0" clrIdx="1">
    <p:extLst>
      <p:ext uri="{19B8F6BF-5375-455C-9EA6-DF929625EA0E}">
        <p15:presenceInfo xmlns:p15="http://schemas.microsoft.com/office/powerpoint/2012/main" userId="AD1907004P01" providerId="None"/>
      </p:ext>
    </p:extLst>
  </p:cmAuthor>
  <p:cmAuthor id="3" name="이다교|대리|다이소|온라인운영지원부" initials="이" lastIdx="1" clrIdx="2">
    <p:extLst>
      <p:ext uri="{19B8F6BF-5375-455C-9EA6-DF929625EA0E}">
        <p15:presenceInfo xmlns:p15="http://schemas.microsoft.com/office/powerpoint/2012/main" userId="이다교|대리|다이소|온라인운영지원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0FF"/>
    <a:srgbClr val="F7F8F9"/>
    <a:srgbClr val="009A9A"/>
    <a:srgbClr val="E6F5F5"/>
    <a:srgbClr val="FEF4F4"/>
    <a:srgbClr val="000000"/>
    <a:srgbClr val="92D050"/>
    <a:srgbClr val="FFC5D3"/>
    <a:srgbClr val="0000FF"/>
    <a:srgbClr val="EFEFE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6173" autoAdjust="0"/>
  </p:normalViewPr>
  <p:slideViewPr>
    <p:cSldViewPr snapToGrid="0">
      <p:cViewPr>
        <p:scale>
          <a:sx n="75" d="100"/>
          <a:sy n="75" d="100"/>
        </p:scale>
        <p:origin x="1584" y="732"/>
      </p:cViewPr>
      <p:guideLst>
        <p:guide orient="horz" pos="11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564" y="10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4"/>
          <c:y val="0.08"/>
          <c:w val="0.92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잔존율</c:v>
                </c:pt>
              </c:strCache>
            </c:strRef>
          </c:tx>
          <c:spPr>
            <a:ln w="28575">
              <a:solidFill>
                <a:srgbClr val="009A9A"/>
              </a:solidFill>
              <a:round/>
            </a:ln>
          </c:spPr>
          <c:marker>
            <c:symbol val="circle"/>
            <c:size val="5"/>
            <c:spPr>
              <a:solidFill>
                <a:srgbClr val="009A9A"/>
              </a:solidFill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A4-4CC0-AECB-265BD1DB350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A4-4CC0-AECB-265BD1DB350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A4-4CC0-AECB-265BD1DB350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A4-4CC0-AECB-265BD1DB350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A4-4CC0-AECB-265BD1DB350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A4-4CC0-AECB-265BD1DB350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A4-4CC0-AECB-265BD1DB350D}"/>
                </c:ext>
              </c:extLst>
            </c:dLbl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0F172A"/>
                    </a:solidFill>
                    <a:latin typeface="맑은 고딕"/>
                    <a:ea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M6</c:v>
                </c:pt>
                <c:pt idx="5">
                  <c:v>M9</c:v>
                </c:pt>
                <c:pt idx="6">
                  <c:v>M12</c:v>
                </c:pt>
                <c:pt idx="7">
                  <c:v>M18</c:v>
                </c:pt>
                <c:pt idx="8">
                  <c:v>M24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0.155</c:v>
                </c:pt>
                <c:pt idx="1">
                  <c:v>0.13200000000000001</c:v>
                </c:pt>
                <c:pt idx="2">
                  <c:v>0.12</c:v>
                </c:pt>
                <c:pt idx="3">
                  <c:v>0.115</c:v>
                </c:pt>
                <c:pt idx="4">
                  <c:v>0.112</c:v>
                </c:pt>
                <c:pt idx="5">
                  <c:v>0.111</c:v>
                </c:pt>
                <c:pt idx="6">
                  <c:v>0.11</c:v>
                </c:pt>
                <c:pt idx="7">
                  <c:v>0.111</c:v>
                </c:pt>
                <c:pt idx="8">
                  <c:v>0.111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FA4-4CC0-AECB-265BD1DB3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17"/>
          <c:min val="0.08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978534581957198E-2"/>
          <c:y val="6.4007433476025166E-2"/>
          <c:w val="0.95093250772877413"/>
          <c:h val="0.72714414593145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</c:v>
                </c:pt>
                <c:pt idx="1">
                  <c:v>1200</c:v>
                </c:pt>
                <c:pt idx="2">
                  <c:v>1980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9-4CDD-B89B-A5F2CE81E2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746</c:v>
                </c:pt>
                <c:pt idx="1">
                  <c:v>1400</c:v>
                </c:pt>
                <c:pt idx="2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9-4CDD-B89B-A5F2CE81E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1556899327"/>
        <c:axId val="1525358831"/>
      </c:barChart>
      <c:catAx>
        <c:axId val="155689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5358831"/>
        <c:crosses val="autoZero"/>
        <c:auto val="1"/>
        <c:lblAlgn val="ctr"/>
        <c:lblOffset val="100"/>
        <c:noMultiLvlLbl val="0"/>
      </c:catAx>
      <c:valAx>
        <c:axId val="1525358831"/>
        <c:scaling>
          <c:orientation val="minMax"/>
          <c:min val="500"/>
        </c:scaling>
        <c:delete val="1"/>
        <c:axPos val="l"/>
        <c:numFmt formatCode="General" sourceLinked="1"/>
        <c:majorTickMark val="none"/>
        <c:minorTickMark val="none"/>
        <c:tickLblPos val="nextTo"/>
        <c:crossAx val="155689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8023756645803896E-2"/>
                  <c:y val="-4.44995988653685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6F-46AD-B6A9-68163A197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-0.05</c:v>
                </c:pt>
                <c:pt idx="1">
                  <c:v>0</c:v>
                </c:pt>
                <c:pt idx="2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6F-46AD-B6A9-68163A1971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-0.02</c:v>
                </c:pt>
                <c:pt idx="1">
                  <c:v>0.02</c:v>
                </c:pt>
                <c:pt idx="2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6F-46AD-B6A9-68163A197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0506943"/>
        <c:axId val="1530884831"/>
      </c:lineChart>
      <c:catAx>
        <c:axId val="153050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30884831"/>
        <c:crossesAt val="-7.0000000000000007E-2"/>
        <c:auto val="1"/>
        <c:lblAlgn val="ctr"/>
        <c:lblOffset val="100"/>
        <c:noMultiLvlLbl val="0"/>
      </c:catAx>
      <c:valAx>
        <c:axId val="15308848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3050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2"/>
          <c:w val="0.94"/>
          <c:h val="0.6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80.400000000000006</c:v>
                </c:pt>
                <c:pt idx="2">
                  <c:v>59.1</c:v>
                </c:pt>
                <c:pt idx="3">
                  <c:v>52.4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EF-4868-82AB-9A1ABABA86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A6A6A6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DEF-4868-82AB-9A1ABABA8671}"/>
              </c:ext>
            </c:extLst>
          </c:dPt>
          <c:dPt>
            <c:idx val="1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7DEF-4868-82AB-9A1ABABA8671}"/>
              </c:ext>
            </c:extLst>
          </c:dPt>
          <c:dPt>
            <c:idx val="2"/>
            <c:invertIfNegative val="0"/>
            <c:bubble3D val="0"/>
            <c:spPr>
              <a:solidFill>
                <a:srgbClr val="D002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DEF-4868-82AB-9A1ABABA8671}"/>
              </c:ext>
            </c:extLst>
          </c:dPt>
          <c:dPt>
            <c:idx val="3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7DEF-4868-82AB-9A1ABABA8671}"/>
              </c:ext>
            </c:extLst>
          </c:dPt>
          <c:dPt>
            <c:idx val="4"/>
            <c:invertIfNegative val="0"/>
            <c:bubble3D val="0"/>
            <c:spPr>
              <a:solidFill>
                <a:srgbClr val="009A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7DEF-4868-82AB-9A1ABABA8671}"/>
              </c:ext>
            </c:extLst>
          </c:dPt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84.5</c:v>
                </c:pt>
                <c:pt idx="1">
                  <c:v>4.0999999999999996</c:v>
                </c:pt>
                <c:pt idx="2">
                  <c:v>21.3</c:v>
                </c:pt>
                <c:pt idx="3">
                  <c:v>6.7</c:v>
                </c:pt>
                <c:pt idx="4">
                  <c:v>52.4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A6A6A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7DEF-4868-82AB-9A1ABABA8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E98-4A2B-9ECC-27316AD55E08}"/>
              </c:ext>
            </c:extLst>
          </c:dPt>
          <c:dLbls>
            <c:dLbl>
              <c:idx val="1"/>
              <c:layout>
                <c:manualLayout>
                  <c:x val="-1.2787152341716363E-16"/>
                  <c:y val="0.22253939128989156"/>
                </c:manualLayout>
              </c:layout>
              <c:numFmt formatCode="0&quot;만명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08491737500253"/>
                      <c:h val="0.293866719208910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E98-4A2B-9ECC-27316AD55E08}"/>
                </c:ext>
              </c:extLst>
            </c:dLbl>
            <c:numFmt formatCode="0&quot;만명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다이소몰</c:v>
                </c:pt>
                <c:pt idx="1">
                  <c:v>전문몰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98-4A2B-9ECC-27316AD55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848131599"/>
        <c:axId val="1157298703"/>
      </c:barChart>
      <c:catAx>
        <c:axId val="84813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7298703"/>
        <c:crosses val="autoZero"/>
        <c:auto val="1"/>
        <c:lblAlgn val="ctr"/>
        <c:lblOffset val="100"/>
        <c:noMultiLvlLbl val="0"/>
      </c:catAx>
      <c:valAx>
        <c:axId val="115729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8131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AD-4FA7-8D81-620F2C27786F}"/>
              </c:ext>
            </c:extLst>
          </c:dPt>
          <c:dLbls>
            <c:dLbl>
              <c:idx val="1"/>
              <c:numFmt formatCode="0&quot;개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AAD-4FA7-8D81-620F2C27786F}"/>
                </c:ext>
              </c:extLst>
            </c:dLbl>
            <c:numFmt formatCode="0&quot;개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다이소몰</c:v>
                </c:pt>
                <c:pt idx="1">
                  <c:v>전문몰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AD-4FA7-8D81-620F2C277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848131599"/>
        <c:axId val="1157298703"/>
      </c:barChart>
      <c:catAx>
        <c:axId val="84813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7298703"/>
        <c:crosses val="autoZero"/>
        <c:auto val="1"/>
        <c:lblAlgn val="ctr"/>
        <c:lblOffset val="100"/>
        <c:noMultiLvlLbl val="0"/>
      </c:catAx>
      <c:valAx>
        <c:axId val="115729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8131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07-4751-9510-4DCDF0E92DBF}"/>
              </c:ext>
            </c:extLst>
          </c:dPt>
          <c:dLbls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A07-4751-9510-4DCDF0E92DB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다이소몰</c:v>
                </c:pt>
                <c:pt idx="1">
                  <c:v>전문몰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8.1000000000000003E-2</c:v>
                </c:pt>
                <c:pt idx="1">
                  <c:v>9.0999999999999998E-2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07-4751-9510-4DCDF0E92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848131599"/>
        <c:axId val="1157298703"/>
      </c:barChart>
      <c:catAx>
        <c:axId val="84813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7298703"/>
        <c:crosses val="autoZero"/>
        <c:auto val="1"/>
        <c:lblAlgn val="ctr"/>
        <c:lblOffset val="100"/>
        <c:noMultiLvlLbl val="0"/>
      </c:catAx>
      <c:valAx>
        <c:axId val="115729870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848131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적시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등록대상</c:v>
                </c:pt>
                <c:pt idx="1">
                  <c:v>샘플수급</c:v>
                </c:pt>
                <c:pt idx="2">
                  <c:v>제작완료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8217</c:v>
                </c:pt>
                <c:pt idx="1">
                  <c:v>6497</c:v>
                </c:pt>
                <c:pt idx="2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2-4F1D-B12A-61FEB989AF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지연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등록대상</c:v>
                </c:pt>
                <c:pt idx="1">
                  <c:v>샘플수급</c:v>
                </c:pt>
                <c:pt idx="2">
                  <c:v>제작완료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2325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12-4F1D-B12A-61FEB989AF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1628159"/>
        <c:axId val="1516662815"/>
      </c:barChart>
      <c:catAx>
        <c:axId val="1211628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16662815"/>
        <c:crosses val="autoZero"/>
        <c:auto val="1"/>
        <c:lblAlgn val="ctr"/>
        <c:lblOffset val="100"/>
        <c:noMultiLvlLbl val="0"/>
      </c:catAx>
      <c:valAx>
        <c:axId val="15166628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11628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E329E-D9A3-4E51-8CF7-DDDA2A2B14E8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65F28-D046-4EB2-B490-7CF3467E5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923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DDFD8-18C4-4053-8E3F-F7988E814C25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90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370D6-86E2-4B7B-BB55-338A4655A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71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0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0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58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54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408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42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064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456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675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267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504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581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995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581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1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C26DE2C-FCE4-0A4E-A5B5-C69DE596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0770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26DE2C-FCE4-0A4E-A5B5-C69DE596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44F6-DFCA-4684-B145-45078173030D}" type="datetime1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410949" y="6612832"/>
            <a:ext cx="783747" cy="230747"/>
          </a:xfrm>
        </p:spPr>
        <p:txBody>
          <a:bodyPr/>
          <a:lstStyle>
            <a:lvl1pPr>
              <a:defRPr sz="1000"/>
            </a:lvl1pPr>
          </a:lstStyle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‹#›</a:t>
            </a:fld>
            <a:r>
              <a:rPr lang="en-US" altLang="ko-KR" dirty="0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83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4D071DC-7593-4A65-48F6-91C335F599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05156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D071DC-7593-4A65-48F6-91C335F59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995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B2BDBA9-20D8-FA31-549F-A6B60B2EF7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30880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" name="think-cell 슬라이드" r:id="rId6" imgW="592" imgH="595" progId="TCLayout.ActiveDocument.1">
                  <p:embed/>
                </p:oleObj>
              </mc:Choice>
              <mc:Fallback>
                <p:oleObj name="think-cell 슬라이드" r:id="rId6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2BDBA9-20D8-FA31-549F-A6B60B2EF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2F57-76DA-4078-8CE3-179BA0A6F44D}" type="datetime1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B5F83-15D8-40F8-9CC2-700DDE7315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5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4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5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10" Type="http://schemas.openxmlformats.org/officeDocument/2006/relationships/chart" Target="../charts/chart8.xml"/><Relationship Id="rId4" Type="http://schemas.openxmlformats.org/officeDocument/2006/relationships/notesSlide" Target="../notesSlides/notesSlide7.xml"/><Relationship Id="rId9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04E8028-F2D2-991F-189B-2DE424B96C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4E8028-F2D2-991F-189B-2DE424B96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42545" y="4228902"/>
            <a:ext cx="270691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ko-KR" altLang="en-US" sz="1400" b="1" dirty="0">
                <a:ea typeface="맑은 고딕"/>
              </a:rPr>
              <a:t>발표자 </a:t>
            </a:r>
            <a:r>
              <a:rPr lang="en-US" altLang="ko-KR" sz="1400" b="1" dirty="0">
                <a:ea typeface="맑은 고딕"/>
              </a:rPr>
              <a:t>: </a:t>
            </a:r>
            <a:r>
              <a:rPr lang="ko-KR" altLang="en-US" sz="1400" b="1" dirty="0" err="1">
                <a:ea typeface="맑은 고딕"/>
              </a:rPr>
              <a:t>조태진</a:t>
            </a:r>
            <a:r>
              <a:rPr lang="ko-KR" altLang="en-US" sz="1400" b="1" dirty="0">
                <a:ea typeface="맑은 고딕"/>
              </a:rPr>
              <a:t> 본부장</a:t>
            </a:r>
            <a:r>
              <a:rPr lang="en-US" altLang="ko-KR" sz="1400" b="1" dirty="0">
                <a:ea typeface="맑은 고딕"/>
              </a:rPr>
              <a:t>(</a:t>
            </a:r>
            <a:r>
              <a:rPr lang="ko-KR" altLang="en-US" sz="1400" b="1" dirty="0">
                <a:ea typeface="맑은 고딕"/>
              </a:rPr>
              <a:t>상무)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2545" y="5934157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온라인사업본부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42545" y="6249095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1400" b="1" dirty="0"/>
              <a:t>2026</a:t>
            </a:r>
            <a:r>
              <a:rPr lang="ko-KR" altLang="en-US" sz="1400" b="1" dirty="0"/>
              <a:t>년  </a:t>
            </a:r>
            <a:r>
              <a:rPr lang="en-US" altLang="ko-KR" sz="1400" b="1" dirty="0"/>
              <a:t>9</a:t>
            </a:r>
            <a:r>
              <a:rPr lang="ko-KR" altLang="en-US" sz="1400" b="1" dirty="0"/>
              <a:t>월 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일</a:t>
            </a:r>
            <a:endParaRPr lang="en-US" altLang="ko-KR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15033" y="1874126"/>
            <a:ext cx="10161935" cy="5749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ea typeface="맑은 고딕"/>
              </a:rPr>
              <a:t>온라인사업본부 </a:t>
            </a:r>
            <a:r>
              <a:rPr lang="en-US" altLang="ko-KR" sz="2400" b="1" dirty="0">
                <a:ea typeface="맑은 고딕"/>
              </a:rPr>
              <a:t>27</a:t>
            </a:r>
            <a:r>
              <a:rPr lang="ko-KR" altLang="en-US" sz="2400" b="1" dirty="0">
                <a:ea typeface="맑은 고딕"/>
              </a:rPr>
              <a:t>년 사업전략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 rot="10800000" flipV="1">
            <a:off x="9828362" y="220133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spc="-100" dirty="0" err="1">
                <a:solidFill>
                  <a:schemeClr val="tx1"/>
                </a:solidFill>
                <a:latin typeface="맑은 고딕"/>
                <a:ea typeface="맑은 고딕"/>
              </a:rPr>
              <a:t>컨퍼런스콜</a:t>
            </a:r>
            <a:endParaRPr lang="en-US" altLang="ko-KR" sz="1000" b="1" spc="-1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 rot="10800000" flipV="1">
            <a:off x="9828362" y="495301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2026.9.1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b="1" dirty="0"/>
              <a:t>보고 요약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C8FC6A-897F-40CF-9CDB-AC7000CB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</a:t>
            </a:fld>
            <a:r>
              <a:rPr lang="en-US" altLang="ko-KR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986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 err="1">
                <a:ea typeface="맑은 고딕"/>
              </a:rPr>
              <a:t>이커머스</a:t>
            </a:r>
            <a:r>
              <a:rPr lang="ko-KR" altLang="en-US" sz="1600" b="1" dirty="0">
                <a:ea typeface="맑은 고딕"/>
              </a:rPr>
              <a:t> 기본기 갖추기에 집중하여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매출 성장 및 영업이익 흑자를</a:t>
            </a:r>
            <a:r>
              <a:rPr lang="en-US" altLang="ko-KR" sz="1600" b="1" dirty="0">
                <a:ea typeface="맑은 고딕"/>
              </a:rPr>
              <a:t> </a:t>
            </a:r>
            <a:r>
              <a:rPr lang="ko-KR" altLang="en-US" sz="1600" b="1" dirty="0">
                <a:ea typeface="맑은 고딕"/>
              </a:rPr>
              <a:t>달성했습니다</a:t>
            </a:r>
            <a:r>
              <a:rPr lang="en-US" altLang="ko-KR" sz="1600" b="1" dirty="0">
                <a:ea typeface="맑은 고딕"/>
              </a:rPr>
              <a:t>. </a:t>
            </a:r>
            <a:br>
              <a:rPr lang="en-US" altLang="ko-KR" sz="1600" b="1" dirty="0">
                <a:ea typeface="맑은 고딕"/>
              </a:rPr>
            </a:br>
            <a:r>
              <a:rPr lang="ko-KR" altLang="en-US" sz="1600" b="1" dirty="0">
                <a:ea typeface="맑은 고딕"/>
              </a:rPr>
              <a:t>다만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고객 지표는 악화되지는 않으나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개선이 </a:t>
            </a:r>
            <a:r>
              <a:rPr lang="ko-KR" altLang="en-US" sz="1600" b="1" dirty="0" err="1">
                <a:ea typeface="맑은 고딕"/>
              </a:rPr>
              <a:t>뚜렸하지도</a:t>
            </a:r>
            <a:r>
              <a:rPr lang="ko-KR" altLang="en-US" sz="1600" b="1" dirty="0">
                <a:ea typeface="맑은 고딕"/>
              </a:rPr>
              <a:t> 않습니다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①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  <a:endParaRPr lang="ko-KR" altLang="en-US" sz="12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316A1-BADD-4900-83D1-0B1F3D6DFFFB}"/>
              </a:ext>
            </a:extLst>
          </p:cNvPr>
          <p:cNvSpPr txBox="1"/>
          <p:nvPr/>
        </p:nvSpPr>
        <p:spPr>
          <a:xfrm>
            <a:off x="629266" y="2762865"/>
            <a:ext cx="3460953" cy="25496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이커머스</a:t>
            </a:r>
            <a:r>
              <a:rPr lang="ko-KR" altLang="en-US" sz="1200" b="1" dirty="0"/>
              <a:t> 표준적 물류 경험 제공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다이소만의</a:t>
            </a:r>
            <a:r>
              <a:rPr lang="ko-KR" altLang="en-US" sz="1200" b="1" dirty="0"/>
              <a:t> 온라인 마케팅 방법론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전략 상품 중심의 성장 추진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효율적 사업구조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31C3E-3040-4861-8871-D31D704AE71E}"/>
              </a:ext>
            </a:extLst>
          </p:cNvPr>
          <p:cNvSpPr txBox="1"/>
          <p:nvPr/>
        </p:nvSpPr>
        <p:spPr>
          <a:xfrm>
            <a:off x="1204451" y="2546896"/>
            <a:ext cx="231058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24</a:t>
            </a:r>
            <a:r>
              <a:rPr lang="ko-KR" altLang="en-US" sz="1200" b="1" dirty="0"/>
              <a:t>년</a:t>
            </a:r>
            <a:r>
              <a:rPr lang="en-US" altLang="ko-KR" sz="1200" b="1" dirty="0"/>
              <a:t>~26</a:t>
            </a:r>
            <a:r>
              <a:rPr lang="ko-KR" altLang="en-US" sz="1200" b="1" dirty="0"/>
              <a:t>년 주요 추진 과제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6D2189-2095-4F0E-AB74-171541064B5D}"/>
              </a:ext>
            </a:extLst>
          </p:cNvPr>
          <p:cNvSpPr/>
          <p:nvPr/>
        </p:nvSpPr>
        <p:spPr>
          <a:xfrm>
            <a:off x="4670323" y="1806481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재무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성과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F75C31-9BEC-407B-A31A-24B1203619FF}"/>
              </a:ext>
            </a:extLst>
          </p:cNvPr>
          <p:cNvSpPr/>
          <p:nvPr/>
        </p:nvSpPr>
        <p:spPr>
          <a:xfrm>
            <a:off x="4670322" y="4328803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고객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지표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38683" y="4749427"/>
            <a:ext cx="2336144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회원 구성 (2026년 8월)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38683" y="5045869"/>
            <a:ext cx="2336144" cy="59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2600" b="1">
                <a:solidFill>
                  <a:srgbClr val="009A9A"/>
                </a:solidFill>
                <a:latin typeface="맑은 고딕"/>
                <a:ea typeface="맑은 고딕"/>
              </a:rPr>
              <a:t>61%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38683" y="5638754"/>
            <a:ext cx="2336144" cy="256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0">
                <a:solidFill>
                  <a:srgbClr val="0F172A"/>
                </a:solidFill>
                <a:latin typeface="맑은 고딕"/>
                <a:ea typeface="맑은 고딕"/>
              </a:rPr>
              <a:t>구매 경험 없음 567만 / 전체 926만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38683" y="5974723"/>
            <a:ext cx="1429720" cy="316205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993547" y="5974723"/>
            <a:ext cx="1401686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50" b="1">
                <a:solidFill>
                  <a:srgbClr val="FFFFFF"/>
                </a:solidFill>
                <a:latin typeface="맑은 고딕"/>
                <a:ea typeface="맑은 고딕"/>
              </a:rPr>
              <a:t>미구매 567만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0">
                <a:solidFill>
                  <a:srgbClr val="0F172A"/>
                </a:solidFill>
                <a:latin typeface="맑은 고딕"/>
                <a:ea typeface="맑은 고딕"/>
              </a:rPr>
              <a:t>구매 359만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38683" y="6369979"/>
            <a:ext cx="233614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00" b="0">
                <a:solidFill>
                  <a:srgbClr val="A6A6A6"/>
                </a:solidFill>
                <a:latin typeface="맑은 고딕"/>
                <a:ea typeface="맑은 고딕"/>
              </a:rPr>
              <a:t>온·오프 통합회원제 특성상 순수 온라인 회원 아님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87203" y="4749427"/>
            <a:ext cx="2760899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코호트 잔존율 — 11%에 수렴</a:t>
            </a:r>
          </a:p>
        </p:txBody>
      </p:sp>
      <p:graphicFrame>
        <p:nvGraphicFramePr>
          <p:cNvPr id="110" name="Chart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31813"/>
              </p:ext>
            </p:extLst>
          </p:nvPr>
        </p:nvGraphicFramePr>
        <p:xfrm>
          <a:off x="8487203" y="5026106"/>
          <a:ext cx="2760899" cy="1422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8487203" y="6519781"/>
            <a:ext cx="276089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750" b="0" dirty="0">
                <a:solidFill>
                  <a:srgbClr val="A6A6A6"/>
                </a:solidFill>
                <a:latin typeface="맑은 고딕"/>
                <a:ea typeface="맑은 고딕"/>
              </a:rPr>
              <a:t>* </a:t>
            </a:r>
            <a:r>
              <a:rPr lang="ko-KR" altLang="en-US" sz="750" b="0" dirty="0" err="1">
                <a:solidFill>
                  <a:srgbClr val="A6A6A6"/>
                </a:solidFill>
                <a:latin typeface="맑은 고딕"/>
                <a:ea typeface="맑은 고딕"/>
              </a:rPr>
              <a:t>첫달</a:t>
            </a:r>
            <a:r>
              <a:rPr lang="en-US" altLang="ko-KR" sz="750" b="0" dirty="0">
                <a:solidFill>
                  <a:srgbClr val="A6A6A6"/>
                </a:solidFill>
                <a:latin typeface="맑은 고딕"/>
                <a:ea typeface="맑은 고딕"/>
              </a:rPr>
              <a:t>(M0)</a:t>
            </a:r>
            <a:r>
              <a:rPr lang="ko-KR" altLang="en-US" sz="750" b="0" dirty="0">
                <a:solidFill>
                  <a:srgbClr val="A6A6A6"/>
                </a:solidFill>
                <a:latin typeface="맑은 고딕"/>
                <a:ea typeface="맑은 고딕"/>
              </a:rPr>
              <a:t> 구매 고객이 이후 얼마나 재구매로 이어지는지</a:t>
            </a:r>
            <a:endParaRPr lang="ko-KR" sz="750" b="0" dirty="0">
              <a:solidFill>
                <a:srgbClr val="A6A6A6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92812-E13B-40CD-8262-1EB192FD5095}"/>
              </a:ext>
            </a:extLst>
          </p:cNvPr>
          <p:cNvSpPr txBox="1"/>
          <p:nvPr/>
        </p:nvSpPr>
        <p:spPr>
          <a:xfrm>
            <a:off x="5751576" y="1808163"/>
            <a:ext cx="480974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23</a:t>
            </a:r>
            <a:r>
              <a:rPr lang="ko-KR" altLang="en-US" sz="1200" b="1" dirty="0"/>
              <a:t>년 </a:t>
            </a:r>
            <a:r>
              <a:rPr lang="en-US" altLang="ko-KR" sz="1200" b="1" dirty="0"/>
              <a:t>BCG</a:t>
            </a:r>
            <a:r>
              <a:rPr lang="ko-KR" altLang="en-US" sz="1200" b="1" dirty="0"/>
              <a:t>와 수립한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개년 목표 초과 달성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58672-8D77-4D3A-B318-B7B8AEE872CC}"/>
              </a:ext>
            </a:extLst>
          </p:cNvPr>
          <p:cNvSpPr txBox="1"/>
          <p:nvPr/>
        </p:nvSpPr>
        <p:spPr>
          <a:xfrm>
            <a:off x="5788486" y="4330442"/>
            <a:ext cx="545961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회원수는 지속 성장하나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미구매</a:t>
            </a:r>
            <a:r>
              <a:rPr lang="ko-KR" altLang="en-US" sz="1200" b="1" dirty="0"/>
              <a:t> 회원이 많고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잔존율은 </a:t>
            </a:r>
            <a:r>
              <a:rPr lang="en-US" altLang="ko-KR" sz="1200" b="1" dirty="0"/>
              <a:t>11% </a:t>
            </a:r>
            <a:r>
              <a:rPr lang="ko-KR" altLang="en-US" sz="1200" b="1" dirty="0"/>
              <a:t>수렴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870670B3-5D45-4C80-A80B-133ED096F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295632"/>
              </p:ext>
            </p:extLst>
          </p:nvPr>
        </p:nvGraphicFramePr>
        <p:xfrm>
          <a:off x="5938683" y="2527558"/>
          <a:ext cx="3105926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C3E2B1DF-0337-4676-95A6-FA2EF6F1F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441478"/>
              </p:ext>
            </p:extLst>
          </p:nvPr>
        </p:nvGraphicFramePr>
        <p:xfrm>
          <a:off x="9194806" y="2527557"/>
          <a:ext cx="2971800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7A855C-3C75-4C25-8384-6CB1AD789BA8}"/>
              </a:ext>
            </a:extLst>
          </p:cNvPr>
          <p:cNvSpPr txBox="1"/>
          <p:nvPr/>
        </p:nvSpPr>
        <p:spPr>
          <a:xfrm>
            <a:off x="9194806" y="341745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/>
              <a:t>실적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0EE037-E7A0-4DDF-879D-01B81F677C5F}"/>
              </a:ext>
            </a:extLst>
          </p:cNvPr>
          <p:cNvSpPr txBox="1"/>
          <p:nvPr/>
        </p:nvSpPr>
        <p:spPr>
          <a:xfrm>
            <a:off x="9194806" y="366004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계획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CF4AF-9386-4FE5-9211-A2A36093DF3E}"/>
              </a:ext>
            </a:extLst>
          </p:cNvPr>
          <p:cNvSpPr txBox="1"/>
          <p:nvPr/>
        </p:nvSpPr>
        <p:spPr>
          <a:xfrm>
            <a:off x="6808304" y="2196550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매출액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B9FC56-9823-4875-9FEF-02242F07DC9A}"/>
              </a:ext>
            </a:extLst>
          </p:cNvPr>
          <p:cNvSpPr txBox="1"/>
          <p:nvPr/>
        </p:nvSpPr>
        <p:spPr>
          <a:xfrm>
            <a:off x="9867652" y="2200724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/>
              <a:t>[ </a:t>
            </a:r>
            <a:r>
              <a:rPr lang="ko-KR" altLang="en-US" sz="1200" b="1" dirty="0"/>
              <a:t>영업이익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2665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9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오픈이후 </a:t>
            </a:r>
            <a:r>
              <a:rPr lang="ko-KR" altLang="en-US" sz="1600" b="1" dirty="0" err="1">
                <a:ea typeface="맑은 고딕"/>
              </a:rPr>
              <a:t>각월별</a:t>
            </a:r>
            <a:r>
              <a:rPr lang="ko-KR" altLang="en-US" sz="1600" b="1" dirty="0">
                <a:ea typeface="맑은 고딕"/>
              </a:rPr>
              <a:t> 최초 구매 고객의 이후 잔존율은 </a:t>
            </a:r>
            <a:r>
              <a:rPr lang="en-US" altLang="ko-KR" sz="1600" b="1" dirty="0">
                <a:ea typeface="맑은 고딕"/>
              </a:rPr>
              <a:t>11% </a:t>
            </a:r>
            <a:r>
              <a:rPr lang="ko-KR" altLang="en-US" sz="1600" b="1" dirty="0">
                <a:ea typeface="맑은 고딕"/>
              </a:rPr>
              <a:t>수준으로 </a:t>
            </a:r>
            <a:r>
              <a:rPr lang="ko-KR" altLang="en-US" sz="1600" b="1" dirty="0" err="1">
                <a:ea typeface="맑은 고딕"/>
              </a:rPr>
              <a:t>유지중</a:t>
            </a:r>
            <a:r>
              <a:rPr lang="en-US" altLang="ko-KR" sz="1600" b="1" dirty="0">
                <a:ea typeface="맑은 고딕"/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나빠지지 않는 것은 긍정적이나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 err="1">
                <a:ea typeface="맑은 고딕"/>
              </a:rPr>
              <a:t>첫달</a:t>
            </a:r>
            <a:r>
              <a:rPr lang="ko-KR" altLang="en-US" sz="1600" b="1" dirty="0">
                <a:ea typeface="맑은 고딕"/>
              </a:rPr>
              <a:t> 구매고객 수준으로 성장할 수 있는 잠재력도 존재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</a:t>
            </a:r>
            <a:r>
              <a:rPr lang="ko-KR" altLang="en-US" b="1" dirty="0"/>
              <a:t>코호트 </a:t>
            </a:r>
            <a:r>
              <a:rPr lang="ko-KR" altLang="en-US" b="1" dirty="0" err="1"/>
              <a:t>잔존율</a:t>
            </a:r>
            <a:endParaRPr lang="ko-KR" altLang="en-US" sz="12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4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8D00C7-873D-4582-863A-05587746F654}"/>
              </a:ext>
            </a:extLst>
          </p:cNvPr>
          <p:cNvSpPr/>
          <p:nvPr/>
        </p:nvSpPr>
        <p:spPr>
          <a:xfrm>
            <a:off x="1024128" y="2048256"/>
            <a:ext cx="10386821" cy="4495825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월별 코호트 </a:t>
            </a:r>
            <a:r>
              <a:rPr lang="ko-KR" altLang="en-US" sz="1400" b="1" dirty="0" err="1">
                <a:solidFill>
                  <a:schemeClr val="bg1"/>
                </a:solidFill>
              </a:rPr>
              <a:t>잔존율</a:t>
            </a:r>
            <a:r>
              <a:rPr lang="ko-KR" altLang="en-US" sz="1400" b="1" dirty="0">
                <a:solidFill>
                  <a:schemeClr val="bg1"/>
                </a:solidFill>
              </a:rPr>
              <a:t> 표로 그리기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가로는 </a:t>
            </a:r>
            <a:r>
              <a:rPr lang="ko-KR" altLang="en-US" sz="1400" b="1" dirty="0" err="1">
                <a:solidFill>
                  <a:schemeClr val="bg1"/>
                </a:solidFill>
              </a:rPr>
              <a:t>첫구매월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세로는 </a:t>
            </a:r>
            <a:r>
              <a:rPr lang="en-US" altLang="ko-KR" sz="1400" b="1" dirty="0">
                <a:solidFill>
                  <a:schemeClr val="bg1"/>
                </a:solidFill>
              </a:rPr>
              <a:t>M1~24</a:t>
            </a: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세로 칸이 모자라면 중간은 잘라도 됨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06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현재 추이로는 </a:t>
            </a:r>
            <a:r>
              <a:rPr lang="en-US" altLang="ko-KR" sz="1600" b="1" dirty="0">
                <a:ea typeface="맑은 고딕"/>
              </a:rPr>
              <a:t>5</a:t>
            </a:r>
            <a:r>
              <a:rPr lang="ko-KR" altLang="en-US" sz="1600" b="1" dirty="0">
                <a:ea typeface="맑은 고딕"/>
              </a:rPr>
              <a:t>년 후 매출은 </a:t>
            </a:r>
            <a:r>
              <a:rPr lang="en-US" altLang="ko-KR" sz="1600" b="1" dirty="0">
                <a:ea typeface="맑은 고딕"/>
              </a:rPr>
              <a:t>6</a:t>
            </a:r>
            <a:r>
              <a:rPr lang="ko-KR" altLang="en-US" sz="1600" b="1" dirty="0">
                <a:ea typeface="맑은 고딕"/>
              </a:rPr>
              <a:t>천억 수준이 될 것으로 추정됩니다</a:t>
            </a:r>
            <a:r>
              <a:rPr lang="en-US" altLang="ko-KR" sz="1600" b="1" dirty="0">
                <a:ea typeface="맑은 고딕"/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고객의 재구매율과 구매빈도를 올릴 수 있는 혁신 </a:t>
            </a:r>
            <a:r>
              <a:rPr lang="en-US" altLang="ko-KR" sz="1600" b="1" dirty="0">
                <a:ea typeface="맑은 고딕"/>
              </a:rPr>
              <a:t>Drive</a:t>
            </a:r>
            <a:r>
              <a:rPr lang="ko-KR" altLang="en-US" sz="1600" b="1" dirty="0">
                <a:ea typeface="맑은 고딕"/>
              </a:rPr>
              <a:t>를 추진할 경우 </a:t>
            </a:r>
            <a:r>
              <a:rPr lang="en-US" altLang="ko-KR" sz="1600" b="1" dirty="0">
                <a:ea typeface="맑은 고딕"/>
              </a:rPr>
              <a:t>1</a:t>
            </a:r>
            <a:r>
              <a:rPr lang="ko-KR" altLang="en-US" sz="1600" b="1" dirty="0">
                <a:ea typeface="맑은 고딕"/>
              </a:rPr>
              <a:t>조원까지 성장할 수 있습니다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5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CD06AB3F-C168-46B5-A6DD-1F8E6887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427628"/>
              </p:ext>
            </p:extLst>
          </p:nvPr>
        </p:nvGraphicFramePr>
        <p:xfrm>
          <a:off x="838200" y="2329455"/>
          <a:ext cx="1051560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2031년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신규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-0.5% 감쇠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고객 수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만명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, 12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월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1,566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2,048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2,269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+ 미전환 회원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596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(만명, 연말)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전월 누적 + 신규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증가율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잔존율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구매빈도 (건/월)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객단가 (원)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+ 누적 × 잔존율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(억원)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3,100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4,459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5,081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5,665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성장률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+17%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②</a:t>
            </a:r>
            <a:r>
              <a:rPr lang="en-US" altLang="ko-KR" dirty="0"/>
              <a:t> </a:t>
            </a:r>
            <a:r>
              <a:rPr lang="ko-KR" altLang="en-US" dirty="0"/>
              <a:t>미래 성장 추정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8659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시장 환경 및 고객 행동 분석을 통해 회원수와 구매빈도를 성장시킬 수 있는 </a:t>
            </a:r>
            <a:r>
              <a:rPr lang="en-US" altLang="ko-KR" sz="1600" b="1" dirty="0">
                <a:ea typeface="맑은 고딕"/>
              </a:rPr>
              <a:t>3</a:t>
            </a:r>
            <a:r>
              <a:rPr lang="ko-KR" altLang="en-US" sz="1600" b="1" dirty="0">
                <a:ea typeface="맑은 고딕"/>
              </a:rPr>
              <a:t>개의 기회요인을 발견했습니다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③</a:t>
            </a:r>
            <a:r>
              <a:rPr lang="en-US" altLang="ko-KR" dirty="0"/>
              <a:t> </a:t>
            </a:r>
            <a:r>
              <a:rPr lang="ko-KR" altLang="en-US" dirty="0"/>
              <a:t>성장 기회 요인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333705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인증 편의성 제고 時 </a:t>
            </a:r>
            <a:r>
              <a:rPr lang="ko-KR" altLang="en-US" sz="1200" b="1" dirty="0" err="1"/>
              <a:t>회원수</a:t>
            </a:r>
            <a:r>
              <a:rPr lang="ko-KR" altLang="en-US" sz="1200" b="1" dirty="0"/>
              <a:t> 확대 가능성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4541912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업계 최고 수준의 배송으로 야간 매출 활성화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311779" y="2212257"/>
            <a:ext cx="3491043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무료배송 장바구니를 </a:t>
            </a:r>
            <a:r>
              <a:rPr lang="ko-KR" altLang="en-US" sz="1200" b="1" dirty="0" err="1"/>
              <a:t>못채운</a:t>
            </a:r>
            <a:r>
              <a:rPr lang="ko-KR" altLang="en-US" sz="1200" b="1" dirty="0"/>
              <a:t> 고객을</a:t>
            </a:r>
            <a:br>
              <a:rPr lang="en-US" altLang="ko-KR" sz="1200" b="1" dirty="0"/>
            </a:br>
            <a:r>
              <a:rPr lang="ko-KR" altLang="en-US" sz="1200" b="1" dirty="0"/>
              <a:t>당겨올 수 있는 방안 마련 필요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전체 </a:t>
            </a:r>
            <a:r>
              <a:rPr lang="en-US" altLang="ko-KR" sz="1200" dirty="0"/>
              <a:t>180</a:t>
            </a:r>
            <a:r>
              <a:rPr lang="ko-KR" altLang="en-US" sz="1200" dirty="0"/>
              <a:t>만명의 고객이 쇼핑 중이나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이중 </a:t>
            </a:r>
            <a:r>
              <a:rPr lang="en-US" altLang="ko-KR" sz="1200" dirty="0"/>
              <a:t>1%</a:t>
            </a:r>
            <a:r>
              <a:rPr lang="ko-KR" altLang="en-US" sz="1200" dirty="0"/>
              <a:t>만이 매일 쇼핑을 완료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무료배송 기준을 </a:t>
            </a:r>
            <a:r>
              <a:rPr lang="ko-KR" altLang="en-US" sz="1200" dirty="0" err="1"/>
              <a:t>못채운</a:t>
            </a:r>
            <a:r>
              <a:rPr lang="ko-KR" altLang="en-US" sz="1200" dirty="0"/>
              <a:t> 고객은 </a:t>
            </a:r>
            <a:r>
              <a:rPr lang="en-US" altLang="ko-KR" sz="1200" dirty="0"/>
              <a:t>0.4%</a:t>
            </a:r>
            <a:r>
              <a:rPr lang="ko-KR" altLang="en-US" sz="1200" dirty="0"/>
              <a:t>만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주문 하고</a:t>
            </a:r>
            <a:r>
              <a:rPr lang="en-US" altLang="ko-KR" sz="1200" dirty="0"/>
              <a:t>, </a:t>
            </a:r>
            <a:r>
              <a:rPr lang="ko-KR" altLang="en-US" sz="1200" dirty="0"/>
              <a:t>채운 고객은 </a:t>
            </a:r>
            <a:r>
              <a:rPr lang="en-US" altLang="ko-KR" sz="1200" dirty="0"/>
              <a:t>3.1%</a:t>
            </a:r>
            <a:r>
              <a:rPr lang="ko-KR" altLang="en-US" sz="1200" dirty="0"/>
              <a:t>가 주문 전환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E978E-DEE2-4253-B53B-FC5B2D3F11C8}"/>
              </a:ext>
            </a:extLst>
          </p:cNvPr>
          <p:cNvSpPr txBox="1"/>
          <p:nvPr/>
        </p:nvSpPr>
        <p:spPr>
          <a:xfrm>
            <a:off x="552876" y="6059526"/>
            <a:ext cx="3059004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SNS</a:t>
            </a:r>
            <a:r>
              <a:rPr lang="ko-KR" altLang="en-US" sz="1200" b="1" dirty="0"/>
              <a:t> 가입 時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본인인증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과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정보입력</a:t>
            </a:r>
            <a:r>
              <a:rPr lang="en-US" altLang="ko-KR" sz="1200" b="1" dirty="0"/>
              <a:t>“ </a:t>
            </a:r>
            <a:br>
              <a:rPr lang="en-US" altLang="ko-KR" sz="1200" b="1" dirty="0"/>
            </a:br>
            <a:r>
              <a:rPr lang="ko-KR" altLang="en-US" sz="1200" b="1" dirty="0"/>
              <a:t>생략하여 회원 </a:t>
            </a:r>
            <a:r>
              <a:rPr lang="ko-KR" altLang="en-US" sz="1200" b="1" dirty="0" err="1"/>
              <a:t>가입율</a:t>
            </a:r>
            <a:r>
              <a:rPr lang="ko-KR" altLang="en-US" sz="1200" b="1" dirty="0"/>
              <a:t> 증가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1885F-C2DB-450A-BF86-5398197154C3}"/>
              </a:ext>
            </a:extLst>
          </p:cNvPr>
          <p:cNvSpPr txBox="1"/>
          <p:nvPr/>
        </p:nvSpPr>
        <p:spPr>
          <a:xfrm>
            <a:off x="4402500" y="6059526"/>
            <a:ext cx="305900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익일 배송 보장으로 야간 주문 활성화</a:t>
            </a:r>
          </a:p>
        </p:txBody>
      </p:sp>
      <p:graphicFrame>
        <p:nvGraphicFramePr>
          <p:cNvPr id="93" name="Chart 92"/>
          <p:cNvGraphicFramePr>
            <a:graphicFrameLocks noGrp="1"/>
          </p:cNvGraphicFramePr>
          <p:nvPr/>
        </p:nvGraphicFramePr>
        <p:xfrm>
          <a:off x="552876" y="2920813"/>
          <a:ext cx="2967564" cy="2772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596182" y="3354368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맑은 고딕"/>
                <a:ea typeface="맑은 고딕"/>
              </a:rPr>
              <a:t>84.5만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4084" y="3198920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−4.1만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4.9%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11986" y="3273958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−21.3만</a:t>
            </a:r>
          </a:p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26.5%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69889" y="3663785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−6.7만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11.3%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27791" y="3941854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09A9A"/>
                </a:solidFill>
                <a:latin typeface="맑은 고딕"/>
                <a:ea typeface="맑은 고딕"/>
              </a:rPr>
              <a:t>52.4만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5732" y="2954483"/>
            <a:ext cx="221775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1">
                <a:solidFill>
                  <a:srgbClr val="595959"/>
                </a:solidFill>
                <a:latin typeface="맑은 고딕"/>
                <a:ea typeface="맑은 고딕"/>
              </a:rPr>
              <a:t>주문일 (D일)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87132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0시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41571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6시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96010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12시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0449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18시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04888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24시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15732" y="3375107"/>
            <a:ext cx="2217756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111160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665599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220038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774477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328916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02500" y="3564899"/>
            <a:ext cx="65836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세종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dirty="0" err="1">
                <a:solidFill>
                  <a:srgbClr val="0F172A"/>
                </a:solidFill>
                <a:latin typeface="맑은 고딕"/>
                <a:ea typeface="맑은 고딕"/>
              </a:rPr>
              <a:t>쿠팡</a:t>
            </a: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 수준</a:t>
            </a: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)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자정까지 주문  →  D+1 도착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02500" y="4574531"/>
            <a:ext cx="65836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안성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D+1 도착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D+2 도착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13130" y="4984451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1">
                <a:solidFill>
                  <a:srgbClr val="595959"/>
                </a:solidFill>
                <a:latin typeface="맑은 고딕"/>
                <a:ea typeface="맑은 고딕"/>
              </a:rPr>
              <a:t>낮 12시 마감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24610" y="4371803"/>
            <a:ext cx="1108878" cy="10972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224610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322516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224610" y="4179779"/>
            <a:ext cx="110887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00" b="1">
                <a:solidFill>
                  <a:srgbClr val="D0021B"/>
                </a:solidFill>
                <a:latin typeface="맑은 고딕"/>
                <a:ea typeface="맑은 고딕"/>
              </a:rPr>
              <a:t>12시간 차이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02500" y="5222195"/>
            <a:ext cx="29675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D+1 도착 = 주문 다음 날 23:59까지 배송</a:t>
            </a:r>
          </a:p>
        </p:txBody>
      </p:sp>
      <p:sp>
        <p:nvSpPr>
          <p:cNvPr id="125" name="Oval 124"/>
          <p:cNvSpPr/>
          <p:nvPr/>
        </p:nvSpPr>
        <p:spPr>
          <a:xfrm>
            <a:off x="8406355" y="4580429"/>
            <a:ext cx="713232" cy="713232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406355" y="4580429"/>
            <a:ext cx="713232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3만원 이상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45.2만 개</a:t>
            </a:r>
          </a:p>
        </p:txBody>
      </p:sp>
      <p:sp>
        <p:nvSpPr>
          <p:cNvPr id="127" name="Oval 126"/>
          <p:cNvSpPr/>
          <p:nvPr/>
        </p:nvSpPr>
        <p:spPr>
          <a:xfrm>
            <a:off x="8141180" y="5412533"/>
            <a:ext cx="1243584" cy="1243584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141180" y="5412533"/>
            <a:ext cx="1243584" cy="12435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3만원 미만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137.6만 개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9174452" y="4707530"/>
            <a:ext cx="1417320" cy="459028"/>
          </a:xfrm>
          <a:prstGeom prst="rightArrow">
            <a:avLst>
              <a:gd name="adj1" fmla="val 51792"/>
              <a:gd name="adj2" fmla="val 45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/>
          </a:p>
        </p:txBody>
      </p:sp>
      <p:sp>
        <p:nvSpPr>
          <p:cNvPr id="130" name="Right Arrow 129"/>
          <p:cNvSpPr/>
          <p:nvPr/>
        </p:nvSpPr>
        <p:spPr>
          <a:xfrm>
            <a:off x="9439628" y="5927524"/>
            <a:ext cx="1152144" cy="213601"/>
          </a:xfrm>
          <a:prstGeom prst="rightArrow">
            <a:avLst>
              <a:gd name="adj1" fmla="val 43714"/>
              <a:gd name="adj2" fmla="val 4499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174452" y="4571285"/>
            <a:ext cx="14173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9A9A"/>
                </a:solidFill>
                <a:latin typeface="맑은 고딕"/>
                <a:ea typeface="맑은 고딕"/>
              </a:rPr>
              <a:t>일 전환 3.1%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39628" y="5741717"/>
            <a:ext cx="115214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</a:rPr>
              <a:t>일 전환 0.4%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646636" y="4844712"/>
            <a:ext cx="64280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09A9A"/>
                </a:solidFill>
                <a:latin typeface="맑은 고딕"/>
                <a:ea typeface="맑은 고딕"/>
              </a:rPr>
              <a:t>13,912건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646636" y="5941992"/>
            <a:ext cx="55303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595959"/>
                </a:solidFill>
                <a:latin typeface="맑은 고딕"/>
                <a:ea typeface="맑은 고딕"/>
              </a:rPr>
              <a:t>5,464건</a:t>
            </a:r>
          </a:p>
        </p:txBody>
      </p:sp>
      <p:sp>
        <p:nvSpPr>
          <p:cNvPr id="135" name="Right Bracket 134"/>
          <p:cNvSpPr/>
          <p:nvPr/>
        </p:nvSpPr>
        <p:spPr>
          <a:xfrm>
            <a:off x="11469596" y="4937045"/>
            <a:ext cx="91440" cy="1097280"/>
          </a:xfrm>
          <a:prstGeom prst="rightBracket">
            <a:avLst/>
          </a:prstGeom>
          <a:noFill/>
          <a:ln w="19050">
            <a:solidFill>
              <a:srgbClr val="D00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1606756" y="5266229"/>
            <a:ext cx="45720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0021B"/>
                </a:solidFill>
                <a:latin typeface="맑은 고딕"/>
                <a:ea typeface="맑은 고딕"/>
              </a:rPr>
              <a:t>전환율</a:t>
            </a:r>
          </a:p>
          <a:p>
            <a:pPr algn="l"/>
            <a:r>
              <a:rPr sz="1400" b="1">
                <a:solidFill>
                  <a:srgbClr val="D0021B"/>
                </a:solidFill>
                <a:latin typeface="맑은 고딕"/>
                <a:ea typeface="맑은 고딕"/>
              </a:rPr>
              <a:t>8배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2719D-AC60-4DC8-B593-E2BF6429341B}"/>
              </a:ext>
            </a:extLst>
          </p:cNvPr>
          <p:cNvSpPr txBox="1"/>
          <p:nvPr/>
        </p:nvSpPr>
        <p:spPr>
          <a:xfrm>
            <a:off x="8098898" y="4207426"/>
            <a:ext cx="128586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/>
              <a:t>장바구니 </a:t>
            </a:r>
            <a:r>
              <a:rPr lang="ko-KR" altLang="en-US" sz="1200" b="1" dirty="0" err="1"/>
              <a:t>갯수</a:t>
            </a:r>
            <a:endParaRPr lang="ko-KR" altLang="en-US" sz="1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538428-AA8A-4E5F-8014-B5AE57CC3781}"/>
              </a:ext>
            </a:extLst>
          </p:cNvPr>
          <p:cNvSpPr txBox="1"/>
          <p:nvPr/>
        </p:nvSpPr>
        <p:spPr>
          <a:xfrm>
            <a:off x="10256269" y="4208824"/>
            <a:ext cx="128586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 dirty="0"/>
              <a:t>日주문수량</a:t>
            </a:r>
          </a:p>
        </p:txBody>
      </p:sp>
    </p:spTree>
    <p:extLst>
      <p:ext uri="{BB962C8B-B14F-4D97-AF65-F5344CB8AC3E}">
        <p14:creationId xmlns:p14="http://schemas.microsoft.com/office/powerpoint/2010/main" val="386921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CCCB64-F665-4C1E-8F03-C3324FD0726E}"/>
              </a:ext>
            </a:extLst>
          </p:cNvPr>
          <p:cNvSpPr/>
          <p:nvPr/>
        </p:nvSpPr>
        <p:spPr>
          <a:xfrm>
            <a:off x="200025" y="1938131"/>
            <a:ext cx="5716143" cy="457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0BF9-50AC-4437-96F1-4B665C76905E}"/>
              </a:ext>
            </a:extLst>
          </p:cNvPr>
          <p:cNvSpPr/>
          <p:nvPr/>
        </p:nvSpPr>
        <p:spPr>
          <a:xfrm>
            <a:off x="6251112" y="1938131"/>
            <a:ext cx="5716143" cy="457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sz="1600" b="1" dirty="0">
                <a:ea typeface="맑은 고딕"/>
              </a:rPr>
              <a:t>26</a:t>
            </a:r>
            <a:r>
              <a:rPr lang="ko-KR" altLang="en-US" sz="1600" b="1" dirty="0">
                <a:ea typeface="맑은 고딕"/>
              </a:rPr>
              <a:t>년 한해 추진하여 성과가 있었던 전문몰은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추가 개설 영역 발굴하여 </a:t>
            </a:r>
            <a:r>
              <a:rPr lang="ko-KR" altLang="en-US" sz="1600" b="1" dirty="0" err="1">
                <a:ea typeface="맑은 고딕"/>
              </a:rPr>
              <a:t>추진필요하며</a:t>
            </a:r>
            <a:endParaRPr lang="en-US" altLang="ko-KR" sz="1600" b="1" dirty="0">
              <a:ea typeface="맑은 고딕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상품 등록은 자동화 확대 및 샘플 확보 강화해 신상품 </a:t>
            </a:r>
            <a:r>
              <a:rPr lang="ko-KR" altLang="en-US" sz="1600" b="1" dirty="0" err="1">
                <a:ea typeface="맑은 고딕"/>
              </a:rPr>
              <a:t>등록률</a:t>
            </a:r>
            <a:r>
              <a:rPr lang="ko-KR" altLang="en-US" sz="1600" b="1" dirty="0">
                <a:ea typeface="맑은 고딕"/>
              </a:rPr>
              <a:t> </a:t>
            </a:r>
            <a:r>
              <a:rPr lang="en-US" altLang="ko-KR" sz="1600" b="1" dirty="0">
                <a:ea typeface="맑은 고딕"/>
              </a:rPr>
              <a:t>90%</a:t>
            </a:r>
            <a:r>
              <a:rPr lang="ko-KR" altLang="en-US" sz="1600" b="1" dirty="0">
                <a:ea typeface="맑은 고딕"/>
              </a:rPr>
              <a:t>까지 </a:t>
            </a:r>
            <a:r>
              <a:rPr lang="ko-KR" altLang="en-US" sz="1600" b="1" dirty="0" err="1">
                <a:ea typeface="맑은 고딕"/>
              </a:rPr>
              <a:t>끌어올려야함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7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④</a:t>
            </a:r>
            <a:r>
              <a:rPr lang="en-US" altLang="ko-KR" dirty="0"/>
              <a:t> </a:t>
            </a:r>
            <a:r>
              <a:rPr lang="ko-KR" altLang="en-US" dirty="0"/>
              <a:t>지속 개선 영역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1305752" y="1725242"/>
            <a:ext cx="3504689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전문몰의 추가 확대 </a:t>
            </a:r>
            <a:r>
              <a:rPr lang="en-US" altLang="ko-KR" sz="1200" b="1" dirty="0"/>
              <a:t>]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7356839" y="1725242"/>
            <a:ext cx="3504689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상품 등록 프로세스 혁신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3CE1F-09A9-46E1-9D60-364974D851EE}"/>
              </a:ext>
            </a:extLst>
          </p:cNvPr>
          <p:cNvSpPr txBox="1"/>
          <p:nvPr/>
        </p:nvSpPr>
        <p:spPr>
          <a:xfrm>
            <a:off x="6377824" y="2410261"/>
            <a:ext cx="5336462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등록 프로세스 통합 및 반자동화로 처리 </a:t>
            </a:r>
            <a:r>
              <a:rPr lang="en-US" altLang="ko-KR" sz="1200" b="1" dirty="0" err="1"/>
              <a:t>Capa</a:t>
            </a:r>
            <a:r>
              <a:rPr lang="ko-KR" altLang="en-US" sz="1200" b="1" dirty="0"/>
              <a:t>는 진화 중</a:t>
            </a:r>
            <a:br>
              <a:rPr lang="en-US" altLang="ko-KR" sz="1200" b="1" dirty="0"/>
            </a:br>
            <a:r>
              <a:rPr lang="en-US" altLang="ko-KR" sz="1200" dirty="0"/>
              <a:t>   - </a:t>
            </a:r>
            <a:r>
              <a:rPr lang="ko-KR" altLang="en-US" sz="1200" dirty="0"/>
              <a:t>제작 시간 </a:t>
            </a:r>
            <a:r>
              <a:rPr lang="en-US" altLang="ko-KR" sz="1200" dirty="0"/>
              <a:t>: 10</a:t>
            </a:r>
            <a:r>
              <a:rPr lang="ko-KR" altLang="en-US" sz="1200" dirty="0"/>
              <a:t>일 → </a:t>
            </a:r>
            <a:r>
              <a:rPr lang="en-US" altLang="ko-KR" sz="1200" dirty="0"/>
              <a:t>5</a:t>
            </a:r>
            <a:r>
              <a:rPr lang="ko-KR" altLang="en-US" sz="1200" dirty="0"/>
              <a:t>일</a:t>
            </a:r>
            <a:br>
              <a:rPr lang="en-US" altLang="ko-KR" sz="1200" dirty="0"/>
            </a:br>
            <a:r>
              <a:rPr lang="en-US" altLang="ko-KR" sz="1200" dirty="0"/>
              <a:t>   - </a:t>
            </a:r>
            <a:r>
              <a:rPr lang="ko-KR" altLang="en-US" sz="1200" dirty="0"/>
              <a:t>제작 </a:t>
            </a:r>
            <a:r>
              <a:rPr lang="en-US" altLang="ko-KR" sz="1200" dirty="0" err="1"/>
              <a:t>Capa</a:t>
            </a:r>
            <a:r>
              <a:rPr lang="en-US" altLang="ko-KR" sz="1200" dirty="0"/>
              <a:t> : </a:t>
            </a:r>
            <a:r>
              <a:rPr lang="ko-KR" altLang="en-US" sz="1200" dirty="0"/>
              <a:t>月 </a:t>
            </a:r>
            <a:r>
              <a:rPr lang="en-US" altLang="ko-KR" sz="1200" dirty="0"/>
              <a:t>1,100</a:t>
            </a:r>
            <a:r>
              <a:rPr lang="ko-KR" altLang="en-US" sz="1200" dirty="0"/>
              <a:t>개 → </a:t>
            </a:r>
            <a:r>
              <a:rPr lang="en-US" altLang="ko-KR" sz="1200" dirty="0"/>
              <a:t>1,1400</a:t>
            </a:r>
            <a:r>
              <a:rPr lang="ko-KR" altLang="en-US" sz="1200" dirty="0"/>
              <a:t>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90D10-7906-4A95-82FD-9794E1EBFE07}"/>
              </a:ext>
            </a:extLst>
          </p:cNvPr>
          <p:cNvSpPr txBox="1"/>
          <p:nvPr/>
        </p:nvSpPr>
        <p:spPr>
          <a:xfrm>
            <a:off x="6377824" y="3436916"/>
            <a:ext cx="5336462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핵심 병목인 샘플 수급 혁신 필요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출시 </a:t>
            </a:r>
            <a:r>
              <a:rPr lang="en-US" altLang="ko-KR" sz="1200" dirty="0"/>
              <a:t>3</a:t>
            </a:r>
            <a:r>
              <a:rPr lang="ko-KR" altLang="en-US" sz="1200" dirty="0"/>
              <a:t>주 前 샘플확보 필수 이나</a:t>
            </a:r>
            <a:r>
              <a:rPr lang="en-US" altLang="ko-KR" sz="1200" dirty="0"/>
              <a:t>, </a:t>
            </a:r>
            <a:r>
              <a:rPr lang="ko-KR" altLang="en-US" sz="1200" dirty="0"/>
              <a:t>적시 확보는 </a:t>
            </a:r>
            <a:r>
              <a:rPr lang="en-US" altLang="ko-KR" sz="1200" dirty="0"/>
              <a:t>70% </a:t>
            </a:r>
            <a:r>
              <a:rPr lang="ko-KR" altLang="en-US" sz="1200" dirty="0"/>
              <a:t>수준</a:t>
            </a:r>
            <a:br>
              <a:rPr lang="en-US" altLang="ko-KR" sz="1200" dirty="0"/>
            </a:br>
            <a:r>
              <a:rPr lang="en-US" altLang="ko-KR" sz="1200" dirty="0"/>
              <a:t>  (</a:t>
            </a:r>
            <a:r>
              <a:rPr lang="ko-KR" altLang="en-US" sz="1200" dirty="0"/>
              <a:t>수입 </a:t>
            </a:r>
            <a:r>
              <a:rPr lang="en-US" altLang="ko-KR" sz="1200" dirty="0"/>
              <a:t>: </a:t>
            </a:r>
            <a:r>
              <a:rPr lang="ko-KR" altLang="en-US" sz="1200" dirty="0"/>
              <a:t>관계사 영업담당</a:t>
            </a:r>
            <a:r>
              <a:rPr lang="en-US" altLang="ko-KR" sz="1200" dirty="0"/>
              <a:t>, </a:t>
            </a:r>
            <a:r>
              <a:rPr lang="ko-KR" altLang="en-US" sz="1200" dirty="0"/>
              <a:t>국내 </a:t>
            </a:r>
            <a:r>
              <a:rPr lang="en-US" altLang="ko-KR" sz="1200" dirty="0"/>
              <a:t>: </a:t>
            </a:r>
            <a:r>
              <a:rPr lang="ko-KR" altLang="en-US" sz="1200" dirty="0"/>
              <a:t>담당 </a:t>
            </a:r>
            <a:r>
              <a:rPr lang="en-US" altLang="ko-KR" sz="1200" dirty="0"/>
              <a:t>MD)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상품본부장 지시로 각 부문장이 매주 출시 신상품 샘플 제공 체크 예정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004DF-23A6-4385-9C34-9D0CC5CAAB54}"/>
              </a:ext>
            </a:extLst>
          </p:cNvPr>
          <p:cNvSpPr txBox="1"/>
          <p:nvPr/>
        </p:nvSpPr>
        <p:spPr>
          <a:xfrm>
            <a:off x="267993" y="2410261"/>
            <a:ext cx="5526519" cy="3657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전문몰은 고객의 상품탐색을 촉진 중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전체 고객의 </a:t>
            </a:r>
            <a:r>
              <a:rPr lang="en-US" altLang="ko-KR" sz="1200" dirty="0"/>
              <a:t>31%</a:t>
            </a:r>
            <a:r>
              <a:rPr lang="ko-KR" altLang="en-US" sz="1200" dirty="0"/>
              <a:t>가 전문관 방문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일반 </a:t>
            </a:r>
            <a:r>
              <a:rPr lang="ko-KR" altLang="en-US" sz="1200" dirty="0" err="1"/>
              <a:t>다이소몰대비</a:t>
            </a:r>
            <a:r>
              <a:rPr lang="ko-KR" altLang="en-US" sz="1200" dirty="0"/>
              <a:t> 상품탐색과 전환율이 높아</a:t>
            </a:r>
            <a:r>
              <a:rPr lang="en-US" altLang="ko-KR" sz="1200" dirty="0"/>
              <a:t>, </a:t>
            </a:r>
            <a:r>
              <a:rPr lang="ko-KR" altLang="en-US" sz="1200" dirty="0"/>
              <a:t>고객의 상품 탐색 수요를 충족하고 있는 것으로 판단됨</a:t>
            </a:r>
            <a:endParaRPr lang="en-US" altLang="ko-KR" sz="1200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카테고리나 기획전으로 해소하기 어려운 상품 소재의 전문몰化 추진 필요</a:t>
            </a:r>
            <a:br>
              <a:rPr lang="en-US" altLang="ko-KR" sz="1200" b="1" dirty="0"/>
            </a:br>
            <a:r>
              <a:rPr lang="en-US" altLang="ko-KR" sz="1200" b="1" dirty="0">
                <a:solidFill>
                  <a:srgbClr val="FF0000"/>
                </a:solidFill>
              </a:rPr>
              <a:t>- </a:t>
            </a:r>
            <a:r>
              <a:rPr lang="ko-KR" altLang="en-US" sz="1200" b="1" dirty="0" err="1">
                <a:solidFill>
                  <a:srgbClr val="FF0000"/>
                </a:solidFill>
              </a:rPr>
              <a:t>키즈</a:t>
            </a:r>
            <a:r>
              <a:rPr lang="en-US" altLang="ko-KR" sz="1200" b="1" dirty="0">
                <a:solidFill>
                  <a:srgbClr val="FF0000"/>
                </a:solidFill>
              </a:rPr>
              <a:t>, /////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6EC2725A-A197-4F8D-A34F-88257569A4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2774"/>
              </p:ext>
            </p:extLst>
          </p:nvPr>
        </p:nvGraphicFramePr>
        <p:xfrm>
          <a:off x="379720" y="3627745"/>
          <a:ext cx="1820817" cy="1624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9D66B38-BA62-4B4D-AFDD-4C489E15F0B6}"/>
              </a:ext>
            </a:extLst>
          </p:cNvPr>
          <p:cNvSpPr txBox="1"/>
          <p:nvPr/>
        </p:nvSpPr>
        <p:spPr>
          <a:xfrm>
            <a:off x="870293" y="3564370"/>
            <a:ext cx="955485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日 방문자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CD7A1505-1FE8-405F-8407-35D51491A2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830361"/>
              </p:ext>
            </p:extLst>
          </p:nvPr>
        </p:nvGraphicFramePr>
        <p:xfrm>
          <a:off x="2288602" y="3627745"/>
          <a:ext cx="1820817" cy="1624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8D6CFF4-6085-47F0-85BE-1913A2F607E2}"/>
              </a:ext>
            </a:extLst>
          </p:cNvPr>
          <p:cNvSpPr txBox="1"/>
          <p:nvPr/>
        </p:nvSpPr>
        <p:spPr>
          <a:xfrm>
            <a:off x="2706964" y="3564370"/>
            <a:ext cx="109990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/>
              <a:t>[</a:t>
            </a:r>
            <a:r>
              <a:rPr lang="ko-KR" altLang="en-US" sz="1200" b="1" dirty="0"/>
              <a:t>탐색 </a:t>
            </a:r>
            <a:r>
              <a:rPr lang="ko-KR" altLang="en-US" sz="1200" b="1" dirty="0" err="1"/>
              <a:t>상품수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55902B58-E63A-4E07-8083-88963C4F52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431434"/>
              </p:ext>
            </p:extLst>
          </p:nvPr>
        </p:nvGraphicFramePr>
        <p:xfrm>
          <a:off x="4118583" y="3628723"/>
          <a:ext cx="1820817" cy="1624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91374CE-822E-4CF0-8AF9-0B748D117567}"/>
              </a:ext>
            </a:extLst>
          </p:cNvPr>
          <p:cNvSpPr txBox="1"/>
          <p:nvPr/>
        </p:nvSpPr>
        <p:spPr>
          <a:xfrm>
            <a:off x="4234398" y="3565348"/>
            <a:ext cx="170500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장바구니 </a:t>
            </a:r>
            <a:r>
              <a:rPr lang="ko-KR" altLang="en-US" sz="1200" b="1" dirty="0" err="1"/>
              <a:t>전환율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BEDF6972-9EB5-4461-B57A-33156D630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410831"/>
              </p:ext>
            </p:extLst>
          </p:nvPr>
        </p:nvGraphicFramePr>
        <p:xfrm>
          <a:off x="7513298" y="4740570"/>
          <a:ext cx="3191770" cy="1504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47824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CCCB64-F665-4C1E-8F03-C3324FD0726E}"/>
              </a:ext>
            </a:extLst>
          </p:cNvPr>
          <p:cNvSpPr/>
          <p:nvPr/>
        </p:nvSpPr>
        <p:spPr>
          <a:xfrm>
            <a:off x="20002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0BF9-50AC-4437-96F1-4B665C76905E}"/>
              </a:ext>
            </a:extLst>
          </p:cNvPr>
          <p:cNvSpPr/>
          <p:nvPr/>
        </p:nvSpPr>
        <p:spPr>
          <a:xfrm>
            <a:off x="4212000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75776B-744F-455A-A63D-75AED3CECC6C}"/>
              </a:ext>
            </a:extLst>
          </p:cNvPr>
          <p:cNvSpPr/>
          <p:nvPr/>
        </p:nvSpPr>
        <p:spPr>
          <a:xfrm>
            <a:off x="822397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8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4807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⑤</a:t>
            </a:r>
            <a:r>
              <a:rPr lang="en-US" altLang="ko-KR" dirty="0"/>
              <a:t> </a:t>
            </a:r>
            <a:r>
              <a:rPr lang="ko-KR" altLang="en-US" dirty="0"/>
              <a:t>잔존 부채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829005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 </a:t>
            </a:r>
            <a:r>
              <a:rPr lang="ko-KR" altLang="en-US" sz="1200" b="1" dirty="0"/>
              <a:t>사이트 개선 지연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5037212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기능 고도화 과제 지연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984879" y="2212257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운영 프로세스 개선 지연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7D4F65D-E959-479A-95C2-0BBAAB5E85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7994" y="3977279"/>
          <a:ext cx="3603486" cy="197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162">
                  <a:extLst>
                    <a:ext uri="{9D8B030D-6E8A-4147-A177-3AD203B41FA5}">
                      <a16:colId xmlns:a16="http://schemas.microsoft.com/office/drawing/2014/main" val="1841021502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444553600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888715666"/>
                    </a:ext>
                  </a:extLst>
                </a:gridCol>
              </a:tblGrid>
              <a:tr h="4304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모바일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89538"/>
                  </a:ext>
                </a:extLst>
              </a:tr>
              <a:tr h="6926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속도개선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 →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583301"/>
                  </a:ext>
                </a:extLst>
              </a:tr>
              <a:tr h="8539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전문몰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뷰티헬스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패션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매장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펫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신상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0593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B3CE1F-09A9-46E1-9D60-364974D851EE}"/>
              </a:ext>
            </a:extLst>
          </p:cNvPr>
          <p:cNvSpPr txBox="1"/>
          <p:nvPr/>
        </p:nvSpPr>
        <p:spPr>
          <a:xfrm>
            <a:off x="4338712" y="2880900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검색엔진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내재화 추진 필요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현재 외부솔루션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다이퀘스트</a:t>
            </a:r>
            <a:r>
              <a:rPr lang="en-US" altLang="ko-KR" sz="1200" b="1" dirty="0"/>
              <a:t>) </a:t>
            </a:r>
            <a:r>
              <a:rPr lang="ko-KR" altLang="en-US" sz="1200" b="1" dirty="0" err="1"/>
              <a:t>사용중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최적화 어려움 → 기능개선 지연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90D10-7906-4A95-82FD-9794E1EBFE07}"/>
              </a:ext>
            </a:extLst>
          </p:cNvPr>
          <p:cNvSpPr txBox="1"/>
          <p:nvPr/>
        </p:nvSpPr>
        <p:spPr>
          <a:xfrm>
            <a:off x="4338712" y="4182352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</a:t>
            </a:r>
            <a:r>
              <a:rPr lang="en-US" altLang="ko-KR" sz="1200" b="1" dirty="0"/>
              <a:t>API : </a:t>
            </a:r>
            <a:r>
              <a:rPr lang="ko-KR" altLang="en-US" sz="1200" b="1" dirty="0"/>
              <a:t>중복 </a:t>
            </a:r>
            <a:r>
              <a:rPr lang="ko-KR" altLang="en-US" sz="1200" b="1" dirty="0" err="1"/>
              <a:t>개발건</a:t>
            </a:r>
            <a:r>
              <a:rPr lang="ko-KR" altLang="en-US" sz="1200" b="1" dirty="0"/>
              <a:t> 다수 존재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관리 공수 과다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DAF4CF-9C68-42AF-A416-04293361416B}"/>
              </a:ext>
            </a:extLst>
          </p:cNvPr>
          <p:cNvSpPr txBox="1"/>
          <p:nvPr/>
        </p:nvSpPr>
        <p:spPr>
          <a:xfrm>
            <a:off x="4338712" y="5171373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③ 재해복구 시간 단축 필요 </a:t>
            </a:r>
            <a:r>
              <a:rPr lang="en-US" altLang="ko-KR" sz="1200" b="1" dirty="0"/>
              <a:t>: 40</a:t>
            </a:r>
            <a:r>
              <a:rPr lang="ko-KR" altLang="en-US" sz="1200" b="1" dirty="0"/>
              <a:t>분 → </a:t>
            </a:r>
            <a:r>
              <a:rPr lang="en-US" altLang="ko-KR" sz="1200" b="1" dirty="0"/>
              <a:t>30</a:t>
            </a:r>
            <a:r>
              <a:rPr lang="ko-KR" altLang="en-US" sz="1200" b="1" dirty="0"/>
              <a:t>분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장애 발생 時 완전 복구까지 </a:t>
            </a:r>
            <a:r>
              <a:rPr lang="en-US" altLang="ko-KR" sz="1200" dirty="0"/>
              <a:t>40</a:t>
            </a:r>
            <a:r>
              <a:rPr lang="ko-KR" altLang="en-US" sz="1200" dirty="0"/>
              <a:t>분 소요</a:t>
            </a:r>
            <a:br>
              <a:rPr lang="en-US" altLang="ko-KR" sz="1200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절차 개선 및 지속 모의훈련 통해 </a:t>
            </a:r>
            <a:r>
              <a:rPr lang="en-US" altLang="ko-KR" sz="1200" dirty="0"/>
              <a:t>30</a:t>
            </a:r>
            <a:r>
              <a:rPr lang="ko-KR" altLang="en-US" sz="1200" dirty="0"/>
              <a:t>분 추진</a:t>
            </a:r>
            <a:r>
              <a:rPr lang="ko-KR" altLang="en-US" sz="1200" b="1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EF333-27C5-4387-9F29-1A8D4FC7FBCC}"/>
              </a:ext>
            </a:extLst>
          </p:cNvPr>
          <p:cNvSpPr txBox="1"/>
          <p:nvPr/>
        </p:nvSpPr>
        <p:spPr>
          <a:xfrm>
            <a:off x="8346353" y="28808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기능 관련 </a:t>
            </a:r>
            <a:r>
              <a:rPr lang="en-US" altLang="ko-KR" sz="1200" b="1" dirty="0"/>
              <a:t>VOC </a:t>
            </a:r>
            <a:r>
              <a:rPr lang="ko-KR" altLang="en-US" sz="1200" b="1" dirty="0"/>
              <a:t>관련 과제 처리 미흡</a:t>
            </a:r>
            <a:br>
              <a:rPr lang="en-US" altLang="ko-KR" sz="1200" b="1" dirty="0"/>
            </a:br>
            <a:r>
              <a:rPr lang="en-US" altLang="ko-KR" sz="1200" dirty="0"/>
              <a:t>   -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배송</a:t>
            </a:r>
            <a:r>
              <a:rPr lang="en-US" altLang="ko-KR" sz="1200" dirty="0"/>
              <a:t>/</a:t>
            </a:r>
            <a:r>
              <a:rPr lang="ko-KR" altLang="en-US" sz="1200" dirty="0"/>
              <a:t>상품 관련 불만은 </a:t>
            </a:r>
            <a:r>
              <a:rPr lang="en-US" altLang="ko-KR" sz="1200" dirty="0"/>
              <a:t>100% </a:t>
            </a:r>
            <a:r>
              <a:rPr lang="ko-KR" altLang="en-US" sz="1200" dirty="0"/>
              <a:t>처리</a:t>
            </a:r>
            <a:br>
              <a:rPr lang="en-US" altLang="ko-KR" sz="1200" dirty="0"/>
            </a:br>
            <a:r>
              <a:rPr lang="en-US" altLang="ko-KR" sz="1200" dirty="0"/>
              <a:t>   - </a:t>
            </a:r>
            <a:r>
              <a:rPr lang="ko-KR" altLang="en-US" sz="1200" dirty="0" err="1"/>
              <a:t>기능건은</a:t>
            </a:r>
            <a:r>
              <a:rPr lang="ko-KR" altLang="en-US" sz="1200" dirty="0"/>
              <a:t> 과제화 미흡 </a:t>
            </a:r>
            <a:r>
              <a:rPr lang="en-US" altLang="ko-KR" sz="1200" dirty="0"/>
              <a:t>(3</a:t>
            </a:r>
            <a:r>
              <a:rPr lang="ko-KR" altLang="en-US" sz="1200" dirty="0"/>
              <a:t>분기 </a:t>
            </a:r>
            <a:r>
              <a:rPr lang="en-US" altLang="ko-KR" sz="1200" dirty="0"/>
              <a:t>30</a:t>
            </a:r>
            <a:r>
              <a:rPr lang="ko-KR" altLang="en-US" sz="1200" dirty="0"/>
              <a:t>개 수준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004DF-23A6-4385-9C34-9D0CC5CAAB54}"/>
              </a:ext>
            </a:extLst>
          </p:cNvPr>
          <p:cNvSpPr txBox="1"/>
          <p:nvPr/>
        </p:nvSpPr>
        <p:spPr>
          <a:xfrm>
            <a:off x="267994" y="281776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</a:t>
            </a:r>
            <a:r>
              <a:rPr lang="en-US" altLang="ko-KR" sz="1200" b="1" dirty="0"/>
              <a:t>80% </a:t>
            </a:r>
            <a:r>
              <a:rPr lang="ko-KR" altLang="en-US" sz="1200" b="1" dirty="0"/>
              <a:t>사용하는 모바일 앱 중심의 개발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</a:t>
            </a:r>
            <a:r>
              <a:rPr lang="ko-KR" altLang="en-US" sz="1200" b="1" dirty="0"/>
              <a:t>는 속도개선 및 </a:t>
            </a:r>
            <a:r>
              <a:rPr lang="ko-KR" altLang="en-US" sz="1200" b="1" dirty="0" err="1"/>
              <a:t>전문몰</a:t>
            </a:r>
            <a:r>
              <a:rPr lang="ko-KR" altLang="en-US" sz="1200" b="1" dirty="0"/>
              <a:t> 개발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미흡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22E47-BB63-4818-A039-82D1FE833A83}"/>
              </a:ext>
            </a:extLst>
          </p:cNvPr>
          <p:cNvSpPr txBox="1"/>
          <p:nvPr/>
        </p:nvSpPr>
        <p:spPr>
          <a:xfrm>
            <a:off x="8346353" y="42651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교환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반품 관련 수동 처리 지속</a:t>
            </a:r>
            <a:br>
              <a:rPr lang="en-US" altLang="ko-KR" sz="1200" b="1" dirty="0"/>
            </a:br>
            <a:r>
              <a:rPr lang="en-US" altLang="ko-KR" sz="1200" dirty="0"/>
              <a:t>   - //</a:t>
            </a:r>
            <a:br>
              <a:rPr lang="en-US" altLang="ko-KR" sz="1200" dirty="0"/>
            </a:br>
            <a:r>
              <a:rPr lang="en-US" altLang="ko-KR" sz="1200" dirty="0"/>
              <a:t>   - ///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9522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Ⅱ. 27</a:t>
            </a:r>
            <a:r>
              <a:rPr lang="ko-KR" altLang="en-US" b="1" dirty="0"/>
              <a:t>년 추진 전략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9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34" name="지붕_목표">
            <a:extLst>
              <a:ext uri="{FF2B5EF4-FFF2-40B4-BE49-F238E27FC236}">
                <a16:creationId xmlns:a16="http://schemas.microsoft.com/office/drawing/2014/main" id="{C55C0D82-969E-40B6-B885-227A0340DB6D}"/>
              </a:ext>
            </a:extLst>
          </p:cNvPr>
          <p:cNvSpPr/>
          <p:nvPr/>
        </p:nvSpPr>
        <p:spPr>
          <a:xfrm>
            <a:off x="960120" y="640080"/>
            <a:ext cx="10268712" cy="1097280"/>
          </a:xfrm>
          <a:prstGeom prst="triangle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띠_1조기반">
            <a:extLst>
              <a:ext uri="{FF2B5EF4-FFF2-40B4-BE49-F238E27FC236}">
                <a16:creationId xmlns:a16="http://schemas.microsoft.com/office/drawing/2014/main" id="{0C5EA44F-1969-4A59-A41B-E08533F14AE3}"/>
              </a:ext>
            </a:extLst>
          </p:cNvPr>
          <p:cNvSpPr/>
          <p:nvPr/>
        </p:nvSpPr>
        <p:spPr>
          <a:xfrm>
            <a:off x="960120" y="1764792"/>
            <a:ext cx="10268712" cy="365760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기둥1_머리">
            <a:extLst>
              <a:ext uri="{FF2B5EF4-FFF2-40B4-BE49-F238E27FC236}">
                <a16:creationId xmlns:a16="http://schemas.microsoft.com/office/drawing/2014/main" id="{91AF2D29-B69D-4278-9BE5-135B114EDFC9}"/>
              </a:ext>
            </a:extLst>
          </p:cNvPr>
          <p:cNvSpPr/>
          <p:nvPr/>
        </p:nvSpPr>
        <p:spPr>
          <a:xfrm>
            <a:off x="1126083" y="2286000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7" name="기둥1_몸통">
            <a:extLst>
              <a:ext uri="{FF2B5EF4-FFF2-40B4-BE49-F238E27FC236}">
                <a16:creationId xmlns:a16="http://schemas.microsoft.com/office/drawing/2014/main" id="{29915E15-9042-4AFF-922E-DB5BFF46B971}"/>
              </a:ext>
            </a:extLst>
          </p:cNvPr>
          <p:cNvSpPr/>
          <p:nvPr/>
        </p:nvSpPr>
        <p:spPr>
          <a:xfrm>
            <a:off x="1199235" y="2340864"/>
            <a:ext cx="3063240" cy="279806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기둥1_구분선">
            <a:extLst>
              <a:ext uri="{FF2B5EF4-FFF2-40B4-BE49-F238E27FC236}">
                <a16:creationId xmlns:a16="http://schemas.microsoft.com/office/drawing/2014/main" id="{471D8880-AC57-4649-8CAF-8F04CEFCA644}"/>
              </a:ext>
            </a:extLst>
          </p:cNvPr>
          <p:cNvSpPr/>
          <p:nvPr/>
        </p:nvSpPr>
        <p:spPr>
          <a:xfrm>
            <a:off x="2410815" y="3246120"/>
            <a:ext cx="640080" cy="27432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" name="기둥1_받침">
            <a:extLst>
              <a:ext uri="{FF2B5EF4-FFF2-40B4-BE49-F238E27FC236}">
                <a16:creationId xmlns:a16="http://schemas.microsoft.com/office/drawing/2014/main" id="{535EF3F4-4376-4EFC-B495-7922974304BF}"/>
              </a:ext>
            </a:extLst>
          </p:cNvPr>
          <p:cNvSpPr/>
          <p:nvPr/>
        </p:nvSpPr>
        <p:spPr>
          <a:xfrm>
            <a:off x="1126083" y="5138928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" name="기둥2_머리">
            <a:extLst>
              <a:ext uri="{FF2B5EF4-FFF2-40B4-BE49-F238E27FC236}">
                <a16:creationId xmlns:a16="http://schemas.microsoft.com/office/drawing/2014/main" id="{45A2B486-6354-434A-901E-CDA04334A073}"/>
              </a:ext>
            </a:extLst>
          </p:cNvPr>
          <p:cNvSpPr/>
          <p:nvPr/>
        </p:nvSpPr>
        <p:spPr>
          <a:xfrm>
            <a:off x="4491075" y="2286000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" name="기둥2_몸통">
            <a:extLst>
              <a:ext uri="{FF2B5EF4-FFF2-40B4-BE49-F238E27FC236}">
                <a16:creationId xmlns:a16="http://schemas.microsoft.com/office/drawing/2014/main" id="{F19B7D27-5670-453E-8BFE-A82E5A568691}"/>
              </a:ext>
            </a:extLst>
          </p:cNvPr>
          <p:cNvSpPr/>
          <p:nvPr/>
        </p:nvSpPr>
        <p:spPr>
          <a:xfrm>
            <a:off x="4564227" y="2340864"/>
            <a:ext cx="3063240" cy="279806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" name="기둥2_구분선">
            <a:extLst>
              <a:ext uri="{FF2B5EF4-FFF2-40B4-BE49-F238E27FC236}">
                <a16:creationId xmlns:a16="http://schemas.microsoft.com/office/drawing/2014/main" id="{71AC7270-2BBE-49A2-A3F8-8C47CE0A55D6}"/>
              </a:ext>
            </a:extLst>
          </p:cNvPr>
          <p:cNvSpPr/>
          <p:nvPr/>
        </p:nvSpPr>
        <p:spPr>
          <a:xfrm>
            <a:off x="5775807" y="3246120"/>
            <a:ext cx="640080" cy="27432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" name="기둥2_받침">
            <a:extLst>
              <a:ext uri="{FF2B5EF4-FFF2-40B4-BE49-F238E27FC236}">
                <a16:creationId xmlns:a16="http://schemas.microsoft.com/office/drawing/2014/main" id="{94A349BA-A3A0-48D6-86BB-C5E14A613FD3}"/>
              </a:ext>
            </a:extLst>
          </p:cNvPr>
          <p:cNvSpPr/>
          <p:nvPr/>
        </p:nvSpPr>
        <p:spPr>
          <a:xfrm>
            <a:off x="4491075" y="5138928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기둥3_머리">
            <a:extLst>
              <a:ext uri="{FF2B5EF4-FFF2-40B4-BE49-F238E27FC236}">
                <a16:creationId xmlns:a16="http://schemas.microsoft.com/office/drawing/2014/main" id="{05FA2408-5238-4F3C-A4F7-346DF86AC86B}"/>
              </a:ext>
            </a:extLst>
          </p:cNvPr>
          <p:cNvSpPr/>
          <p:nvPr/>
        </p:nvSpPr>
        <p:spPr>
          <a:xfrm>
            <a:off x="7856067" y="2286000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기둥3_몸통">
            <a:extLst>
              <a:ext uri="{FF2B5EF4-FFF2-40B4-BE49-F238E27FC236}">
                <a16:creationId xmlns:a16="http://schemas.microsoft.com/office/drawing/2014/main" id="{766A43BF-B10C-436F-87C0-2B7902E5B257}"/>
              </a:ext>
            </a:extLst>
          </p:cNvPr>
          <p:cNvSpPr/>
          <p:nvPr/>
        </p:nvSpPr>
        <p:spPr>
          <a:xfrm>
            <a:off x="7929219" y="2340864"/>
            <a:ext cx="3063240" cy="279806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기둥3_구분선">
            <a:extLst>
              <a:ext uri="{FF2B5EF4-FFF2-40B4-BE49-F238E27FC236}">
                <a16:creationId xmlns:a16="http://schemas.microsoft.com/office/drawing/2014/main" id="{738E9088-9386-4E76-837D-83BB2C16B560}"/>
              </a:ext>
            </a:extLst>
          </p:cNvPr>
          <p:cNvSpPr/>
          <p:nvPr/>
        </p:nvSpPr>
        <p:spPr>
          <a:xfrm>
            <a:off x="9140799" y="3246120"/>
            <a:ext cx="640080" cy="27432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" name="기둥3_받침">
            <a:extLst>
              <a:ext uri="{FF2B5EF4-FFF2-40B4-BE49-F238E27FC236}">
                <a16:creationId xmlns:a16="http://schemas.microsoft.com/office/drawing/2014/main" id="{6EFAC375-5A00-4D90-A0D3-8832516C5DF2}"/>
              </a:ext>
            </a:extLst>
          </p:cNvPr>
          <p:cNvSpPr/>
          <p:nvPr/>
        </p:nvSpPr>
        <p:spPr>
          <a:xfrm>
            <a:off x="7856067" y="5138928"/>
            <a:ext cx="3209544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" name="기반_상단">
            <a:extLst>
              <a:ext uri="{FF2B5EF4-FFF2-40B4-BE49-F238E27FC236}">
                <a16:creationId xmlns:a16="http://schemas.microsoft.com/office/drawing/2014/main" id="{A7AD0BE5-4E85-4808-ACB0-107B729E448D}"/>
              </a:ext>
            </a:extLst>
          </p:cNvPr>
          <p:cNvSpPr/>
          <p:nvPr/>
        </p:nvSpPr>
        <p:spPr>
          <a:xfrm>
            <a:off x="960120" y="5285232"/>
            <a:ext cx="10268712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" name="기반_하단">
            <a:extLst>
              <a:ext uri="{FF2B5EF4-FFF2-40B4-BE49-F238E27FC236}">
                <a16:creationId xmlns:a16="http://schemas.microsoft.com/office/drawing/2014/main" id="{3684C376-2F72-42CD-8082-F019C101154D}"/>
              </a:ext>
            </a:extLst>
          </p:cNvPr>
          <p:cNvSpPr/>
          <p:nvPr/>
        </p:nvSpPr>
        <p:spPr>
          <a:xfrm>
            <a:off x="731520" y="5650991"/>
            <a:ext cx="10725912" cy="893079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631439-C9AC-42B3-9B8B-12E21B516284}"/>
              </a:ext>
            </a:extLst>
          </p:cNvPr>
          <p:cNvSpPr txBox="1"/>
          <p:nvPr/>
        </p:nvSpPr>
        <p:spPr>
          <a:xfrm>
            <a:off x="1199235" y="5751576"/>
            <a:ext cx="3063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180975" indent="-1809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0F172A"/>
                </a:solidFill>
              </a:rPr>
              <a:t>매장 </a:t>
            </a:r>
            <a:r>
              <a:rPr lang="en-US" altLang="ko-KR" sz="1200" b="1" dirty="0">
                <a:solidFill>
                  <a:srgbClr val="0F172A"/>
                </a:solidFill>
              </a:rPr>
              <a:t>: PC </a:t>
            </a:r>
            <a:r>
              <a:rPr lang="ko-KR" altLang="en-US" sz="1200" b="1" dirty="0">
                <a:solidFill>
                  <a:srgbClr val="0F172A"/>
                </a:solidFill>
              </a:rPr>
              <a:t>사이트 전면 개편</a:t>
            </a:r>
            <a:endParaRPr lang="en-US" altLang="ko-KR" sz="1200" b="1" dirty="0">
              <a:solidFill>
                <a:srgbClr val="0F172A"/>
              </a:solidFill>
            </a:endParaRPr>
          </a:p>
          <a:p>
            <a:pPr marL="180975" indent="-1809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FF0000"/>
                </a:solidFill>
              </a:rPr>
              <a:t>태블릿</a:t>
            </a:r>
            <a:r>
              <a:rPr lang="en-US" altLang="ko-KR" sz="1200" b="1" dirty="0">
                <a:solidFill>
                  <a:srgbClr val="FF0000"/>
                </a:solidFill>
              </a:rPr>
              <a:t>, </a:t>
            </a:r>
            <a:r>
              <a:rPr lang="ko-KR" altLang="en-US" sz="1200" b="1" dirty="0" err="1">
                <a:solidFill>
                  <a:srgbClr val="FF0000"/>
                </a:solidFill>
              </a:rPr>
              <a:t>폴더블</a:t>
            </a:r>
            <a:r>
              <a:rPr lang="ko-KR" altLang="en-US" sz="1200" b="1" dirty="0">
                <a:solidFill>
                  <a:srgbClr val="FF0000"/>
                </a:solidFill>
              </a:rPr>
              <a:t> 대응 사이트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4A13B1-C5B8-45ED-9DCA-2FA01DEFD694}"/>
              </a:ext>
            </a:extLst>
          </p:cNvPr>
          <p:cNvSpPr txBox="1"/>
          <p:nvPr/>
        </p:nvSpPr>
        <p:spPr>
          <a:xfrm>
            <a:off x="1308963" y="3383280"/>
            <a:ext cx="284378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45720" bIns="18288" rtlCol="0" anchor="t">
            <a:noAutofit/>
          </a:bodyPr>
          <a:lstStyle/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전시 </a:t>
            </a:r>
            <a:r>
              <a:rPr lang="en-US" altLang="ko-KR" sz="1200" b="1" dirty="0">
                <a:solidFill>
                  <a:srgbClr val="262626"/>
                </a:solidFill>
              </a:rPr>
              <a:t>: </a:t>
            </a:r>
            <a:r>
              <a:rPr lang="ko-KR" altLang="en-US" sz="1200" b="1" dirty="0">
                <a:solidFill>
                  <a:srgbClr val="262626"/>
                </a:solidFill>
              </a:rPr>
              <a:t>추가 </a:t>
            </a:r>
            <a:r>
              <a:rPr lang="ko-KR" altLang="en-US" sz="1200" b="1" dirty="0" err="1">
                <a:solidFill>
                  <a:srgbClr val="262626"/>
                </a:solidFill>
              </a:rPr>
              <a:t>전문몰</a:t>
            </a:r>
            <a:r>
              <a:rPr lang="ko-KR" altLang="en-US" sz="1200" b="1" dirty="0">
                <a:solidFill>
                  <a:srgbClr val="262626"/>
                </a:solidFill>
              </a:rPr>
              <a:t> 확대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</a:t>
            </a:r>
            <a:r>
              <a:rPr lang="ko-KR" altLang="en-US" sz="1200" dirty="0" err="1">
                <a:solidFill>
                  <a:srgbClr val="262626"/>
                </a:solidFill>
              </a:rPr>
              <a:t>키즈</a:t>
            </a:r>
            <a:r>
              <a:rPr lang="en-US" altLang="ko-KR" sz="1200" dirty="0">
                <a:solidFill>
                  <a:srgbClr val="262626"/>
                </a:solidFill>
              </a:rPr>
              <a:t>, </a:t>
            </a:r>
            <a:r>
              <a:rPr lang="ko-KR" altLang="en-US" sz="1200" dirty="0">
                <a:solidFill>
                  <a:srgbClr val="262626"/>
                </a:solidFill>
              </a:rPr>
              <a:t>남</a:t>
            </a:r>
            <a:r>
              <a:rPr lang="en-US" altLang="ko-KR" sz="1200" dirty="0">
                <a:solidFill>
                  <a:srgbClr val="262626"/>
                </a:solidFill>
              </a:rPr>
              <a:t>/</a:t>
            </a:r>
            <a:r>
              <a:rPr lang="ko-KR" altLang="en-US" sz="1200" dirty="0" err="1">
                <a:solidFill>
                  <a:srgbClr val="262626"/>
                </a:solidFill>
              </a:rPr>
              <a:t>녀</a:t>
            </a:r>
            <a:r>
              <a:rPr lang="ko-KR" altLang="en-US" sz="1200" dirty="0">
                <a:solidFill>
                  <a:srgbClr val="262626"/>
                </a:solidFill>
              </a:rPr>
              <a:t> 의류 전문관 등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solidFill>
                  <a:srgbClr val="262626"/>
                </a:solidFill>
              </a:rPr>
              <a:t>결품율</a:t>
            </a:r>
            <a:r>
              <a:rPr lang="ko-KR" altLang="en-US" sz="1200" b="1" dirty="0">
                <a:solidFill>
                  <a:srgbClr val="262626"/>
                </a:solidFill>
              </a:rPr>
              <a:t> </a:t>
            </a:r>
            <a:r>
              <a:rPr lang="en-US" altLang="ko-KR" sz="1200" b="1" dirty="0">
                <a:solidFill>
                  <a:srgbClr val="262626"/>
                </a:solidFill>
              </a:rPr>
              <a:t>50% </a:t>
            </a:r>
            <a:r>
              <a:rPr lang="ko-KR" altLang="en-US" sz="1200" b="1" dirty="0">
                <a:solidFill>
                  <a:srgbClr val="262626"/>
                </a:solidFill>
              </a:rPr>
              <a:t>감축</a:t>
            </a:r>
            <a:endParaRPr lang="en-US" altLang="ko-KR" sz="1200" b="1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신상품 적시 </a:t>
            </a:r>
            <a:r>
              <a:rPr lang="ko-KR" altLang="en-US" sz="1200" b="1" dirty="0" err="1">
                <a:solidFill>
                  <a:srgbClr val="262626"/>
                </a:solidFill>
              </a:rPr>
              <a:t>등록율</a:t>
            </a:r>
            <a:r>
              <a:rPr lang="ko-KR" altLang="en-US" sz="1200" b="1" dirty="0">
                <a:solidFill>
                  <a:srgbClr val="262626"/>
                </a:solidFill>
              </a:rPr>
              <a:t> </a:t>
            </a:r>
            <a:r>
              <a:rPr lang="en-US" altLang="ko-KR" sz="1200" b="1" dirty="0">
                <a:solidFill>
                  <a:srgbClr val="262626"/>
                </a:solidFill>
              </a:rPr>
              <a:t>90%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</a:t>
            </a:r>
            <a:r>
              <a:rPr lang="ko-KR" altLang="en-US" sz="1200" dirty="0">
                <a:solidFill>
                  <a:srgbClr val="262626"/>
                </a:solidFill>
              </a:rPr>
              <a:t>샘플 적시 확보</a:t>
            </a:r>
            <a:br>
              <a:rPr lang="en-US" altLang="ko-KR" sz="1200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CMS </a:t>
            </a:r>
            <a:r>
              <a:rPr lang="ko-KR" altLang="en-US" sz="1200" dirty="0">
                <a:solidFill>
                  <a:srgbClr val="262626"/>
                </a:solidFill>
              </a:rPr>
              <a:t>통한 등록</a:t>
            </a:r>
            <a:r>
              <a:rPr lang="en-US" altLang="ko-KR" sz="1200" dirty="0">
                <a:solidFill>
                  <a:srgbClr val="262626"/>
                </a:solidFill>
              </a:rPr>
              <a:t> </a:t>
            </a:r>
            <a:r>
              <a:rPr lang="ko-KR" altLang="en-US" sz="1200" dirty="0">
                <a:solidFill>
                  <a:srgbClr val="262626"/>
                </a:solidFill>
              </a:rPr>
              <a:t>자동화</a:t>
            </a:r>
            <a:endParaRPr lang="en-US" altLang="ko-KR" sz="1200" dirty="0">
              <a:solidFill>
                <a:srgbClr val="262626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D6E82CE-F247-416C-AA28-EE813F7CD2F5}"/>
              </a:ext>
            </a:extLst>
          </p:cNvPr>
          <p:cNvSpPr/>
          <p:nvPr/>
        </p:nvSpPr>
        <p:spPr>
          <a:xfrm>
            <a:off x="1199235" y="2450592"/>
            <a:ext cx="3063240" cy="777240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500" b="1" dirty="0">
                <a:solidFill>
                  <a:srgbClr val="0F172A"/>
                </a:solidFill>
              </a:rPr>
              <a:t>살게 많은 쇼핑몰</a:t>
            </a:r>
            <a:endParaRPr lang="en-US" altLang="ko-KR" sz="1500" b="1" dirty="0">
              <a:solidFill>
                <a:srgbClr val="0F172A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b="1" dirty="0">
                <a:solidFill>
                  <a:srgbClr val="009A9A"/>
                </a:solidFill>
              </a:rPr>
              <a:t>택배 </a:t>
            </a:r>
            <a:r>
              <a:rPr lang="ko-KR" altLang="en-US" sz="1200" b="1" dirty="0" err="1">
                <a:solidFill>
                  <a:srgbClr val="009A9A"/>
                </a:solidFill>
              </a:rPr>
              <a:t>상품수</a:t>
            </a:r>
            <a:r>
              <a:rPr lang="ko-KR" altLang="en-US" sz="1200" b="1" dirty="0">
                <a:solidFill>
                  <a:srgbClr val="009A9A"/>
                </a:solidFill>
              </a:rPr>
              <a:t> </a:t>
            </a:r>
            <a:r>
              <a:rPr lang="en-US" altLang="ko-KR" sz="1200" b="1" dirty="0">
                <a:solidFill>
                  <a:srgbClr val="009A9A"/>
                </a:solidFill>
              </a:rPr>
              <a:t>2.3</a:t>
            </a:r>
            <a:r>
              <a:rPr lang="ko-KR" altLang="en-US" sz="1200" b="1" dirty="0">
                <a:solidFill>
                  <a:srgbClr val="009A9A"/>
                </a:solidFill>
              </a:rPr>
              <a:t>만개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614A4A4-1734-4A1F-8EE9-9856ADFFED50}"/>
              </a:ext>
            </a:extLst>
          </p:cNvPr>
          <p:cNvSpPr/>
          <p:nvPr/>
        </p:nvSpPr>
        <p:spPr>
          <a:xfrm>
            <a:off x="4564227" y="2450592"/>
            <a:ext cx="3063240" cy="777240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500" b="1" dirty="0">
                <a:solidFill>
                  <a:srgbClr val="0F172A"/>
                </a:solidFill>
              </a:rPr>
              <a:t>업계 최고 수준의 서비스</a:t>
            </a:r>
            <a:br>
              <a:rPr lang="en-US" altLang="ko-KR" sz="1500" b="1" dirty="0">
                <a:solidFill>
                  <a:srgbClr val="0F172A"/>
                </a:solidFill>
              </a:rPr>
            </a:br>
            <a:endParaRPr lang="en-US" altLang="ko-KR" sz="1500" b="1" dirty="0">
              <a:solidFill>
                <a:srgbClr val="0F172A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F13B70E-7353-4BCA-8492-AB1550ABF73B}"/>
              </a:ext>
            </a:extLst>
          </p:cNvPr>
          <p:cNvSpPr/>
          <p:nvPr/>
        </p:nvSpPr>
        <p:spPr>
          <a:xfrm>
            <a:off x="7929219" y="2450592"/>
            <a:ext cx="3063240" cy="777240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500" b="1" dirty="0">
                <a:solidFill>
                  <a:srgbClr val="0F172A"/>
                </a:solidFill>
              </a:rPr>
              <a:t>고객 기반 확대</a:t>
            </a:r>
            <a:endParaRPr lang="en-US" altLang="ko-KR" sz="1500" b="1" dirty="0">
              <a:solidFill>
                <a:srgbClr val="0F172A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rgbClr val="009A9A"/>
                </a:solidFill>
              </a:rPr>
              <a:t>12</a:t>
            </a:r>
            <a:r>
              <a:rPr lang="ko-KR" altLang="en-US" sz="1200" b="1" dirty="0">
                <a:solidFill>
                  <a:srgbClr val="009A9A"/>
                </a:solidFill>
              </a:rPr>
              <a:t>월 </a:t>
            </a:r>
            <a:r>
              <a:rPr lang="ko-KR" altLang="en-US" sz="1200" b="1" dirty="0" err="1">
                <a:solidFill>
                  <a:srgbClr val="009A9A"/>
                </a:solidFill>
              </a:rPr>
              <a:t>회원수</a:t>
            </a:r>
            <a:r>
              <a:rPr lang="ko-KR" altLang="en-US" sz="1200" b="1" dirty="0">
                <a:solidFill>
                  <a:srgbClr val="009A9A"/>
                </a:solidFill>
              </a:rPr>
              <a:t> </a:t>
            </a:r>
            <a:r>
              <a:rPr lang="en-US" altLang="ko-KR" sz="1200" b="1" dirty="0">
                <a:solidFill>
                  <a:srgbClr val="009A9A"/>
                </a:solidFill>
              </a:rPr>
              <a:t>//</a:t>
            </a:r>
            <a:r>
              <a:rPr lang="ko-KR" altLang="en-US" sz="1200" b="1" dirty="0">
                <a:solidFill>
                  <a:srgbClr val="009A9A"/>
                </a:solidFill>
              </a:rPr>
              <a:t>명</a:t>
            </a:r>
            <a:r>
              <a:rPr lang="en-US" altLang="ko-KR" sz="1200" b="1" dirty="0">
                <a:solidFill>
                  <a:srgbClr val="009A9A"/>
                </a:solidFill>
              </a:rPr>
              <a:t>, </a:t>
            </a:r>
            <a:r>
              <a:rPr lang="ko-KR" altLang="en-US" sz="1200" b="1" dirty="0">
                <a:solidFill>
                  <a:srgbClr val="009A9A"/>
                </a:solidFill>
              </a:rPr>
              <a:t>구매고객 </a:t>
            </a:r>
            <a:r>
              <a:rPr lang="en-US" altLang="ko-KR" sz="1200" b="1" dirty="0">
                <a:solidFill>
                  <a:srgbClr val="009A9A"/>
                </a:solidFill>
              </a:rPr>
              <a:t>/</a:t>
            </a:r>
            <a:r>
              <a:rPr lang="ko-KR" altLang="en-US" sz="1200" b="1" dirty="0">
                <a:solidFill>
                  <a:srgbClr val="009A9A"/>
                </a:solidFill>
              </a:rPr>
              <a:t>명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E33EF0-5FB6-4D75-8383-79F6327D95A6}"/>
              </a:ext>
            </a:extLst>
          </p:cNvPr>
          <p:cNvSpPr txBox="1"/>
          <p:nvPr/>
        </p:nvSpPr>
        <p:spPr>
          <a:xfrm>
            <a:off x="4673955" y="3383280"/>
            <a:ext cx="284378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45720" bIns="18288" rtlCol="0" anchor="t">
            <a:noAutofit/>
          </a:bodyPr>
          <a:lstStyle/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배송 </a:t>
            </a:r>
            <a:r>
              <a:rPr lang="en-US" altLang="ko-KR" sz="1200" b="1" dirty="0">
                <a:solidFill>
                  <a:srgbClr val="262626"/>
                </a:solidFill>
              </a:rPr>
              <a:t>: </a:t>
            </a:r>
            <a:r>
              <a:rPr lang="ko-KR" altLang="en-US" sz="1200" b="1" dirty="0">
                <a:solidFill>
                  <a:srgbClr val="262626"/>
                </a:solidFill>
              </a:rPr>
              <a:t>자정이전 주문 익일 배송</a:t>
            </a:r>
            <a:endParaRPr lang="en-US" altLang="ko-KR" sz="1200" b="1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배송 </a:t>
            </a:r>
            <a:r>
              <a:rPr lang="en-US" altLang="ko-KR" sz="1200" b="1" dirty="0">
                <a:solidFill>
                  <a:srgbClr val="262626"/>
                </a:solidFill>
              </a:rPr>
              <a:t>: </a:t>
            </a:r>
            <a:r>
              <a:rPr lang="ko-KR" altLang="en-US" sz="1200" b="1" dirty="0">
                <a:solidFill>
                  <a:srgbClr val="262626"/>
                </a:solidFill>
              </a:rPr>
              <a:t>무료배송 기준 인하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</a:t>
            </a:r>
            <a:r>
              <a:rPr lang="ko-KR" altLang="en-US" sz="1200" dirty="0">
                <a:solidFill>
                  <a:srgbClr val="262626"/>
                </a:solidFill>
              </a:rPr>
              <a:t>수익성 기반 下 추진</a:t>
            </a:r>
            <a:br>
              <a:rPr lang="en-US" altLang="ko-KR" sz="1200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</a:t>
            </a:r>
            <a:r>
              <a:rPr lang="ko-KR" altLang="en-US" sz="1200" dirty="0">
                <a:solidFill>
                  <a:srgbClr val="262626"/>
                </a:solidFill>
              </a:rPr>
              <a:t>상반기 효과 검증 후 확대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262626"/>
                </a:solidFill>
              </a:rPr>
              <a:t>AI : </a:t>
            </a:r>
            <a:r>
              <a:rPr lang="ko-KR" altLang="en-US" sz="1200" b="1" dirty="0" err="1">
                <a:solidFill>
                  <a:srgbClr val="262626"/>
                </a:solidFill>
              </a:rPr>
              <a:t>다이소만의</a:t>
            </a:r>
            <a:r>
              <a:rPr lang="ko-KR" altLang="en-US" sz="1200" b="1" dirty="0">
                <a:solidFill>
                  <a:srgbClr val="262626"/>
                </a:solidFill>
              </a:rPr>
              <a:t> 문제 해결형 </a:t>
            </a:r>
            <a:r>
              <a:rPr lang="en-US" altLang="ko-KR" sz="1200" b="1" dirty="0">
                <a:solidFill>
                  <a:srgbClr val="262626"/>
                </a:solidFill>
              </a:rPr>
              <a:t>AI 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dirty="0">
                <a:solidFill>
                  <a:srgbClr val="262626"/>
                </a:solidFill>
              </a:rPr>
              <a:t>- CS, </a:t>
            </a:r>
            <a:r>
              <a:rPr lang="ko-KR" altLang="en-US" sz="1200" dirty="0">
                <a:solidFill>
                  <a:srgbClr val="262626"/>
                </a:solidFill>
              </a:rPr>
              <a:t>장바구니 채우기</a:t>
            </a:r>
            <a:endParaRPr lang="en-US" altLang="ko-KR" sz="1200" dirty="0">
              <a:solidFill>
                <a:srgbClr val="262626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12B34B-A807-489F-802C-DCC68A6AC1D8}"/>
              </a:ext>
            </a:extLst>
          </p:cNvPr>
          <p:cNvSpPr txBox="1"/>
          <p:nvPr/>
        </p:nvSpPr>
        <p:spPr>
          <a:xfrm>
            <a:off x="8038947" y="3383280"/>
            <a:ext cx="284378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18288" rIns="45720" bIns="18288" rtlCol="0" anchor="t">
            <a:noAutofit/>
          </a:bodyPr>
          <a:lstStyle/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가입 확대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b="1" dirty="0">
                <a:solidFill>
                  <a:srgbClr val="262626"/>
                </a:solidFill>
              </a:rPr>
              <a:t>- SNS </a:t>
            </a:r>
            <a:r>
              <a:rPr lang="ko-KR" altLang="en-US" sz="1200" b="1" dirty="0">
                <a:solidFill>
                  <a:srgbClr val="262626"/>
                </a:solidFill>
              </a:rPr>
              <a:t>가입</a:t>
            </a:r>
            <a:r>
              <a:rPr lang="en-US" altLang="ko-KR" sz="1200" b="1" dirty="0">
                <a:solidFill>
                  <a:srgbClr val="262626"/>
                </a:solidFill>
              </a:rPr>
              <a:t> </a:t>
            </a:r>
            <a:r>
              <a:rPr lang="ko-KR" altLang="en-US" sz="1200" b="1" dirty="0">
                <a:solidFill>
                  <a:srgbClr val="262626"/>
                </a:solidFill>
              </a:rPr>
              <a:t>통한 장애물 제거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r>
              <a:rPr lang="en-US" altLang="ko-KR" sz="1200" b="1" dirty="0">
                <a:solidFill>
                  <a:srgbClr val="262626"/>
                </a:solidFill>
              </a:rPr>
              <a:t>- </a:t>
            </a:r>
            <a:r>
              <a:rPr lang="ko-KR" altLang="en-US" sz="1200" b="1" dirty="0">
                <a:solidFill>
                  <a:srgbClr val="262626"/>
                </a:solidFill>
              </a:rPr>
              <a:t>외국인 위한 이메일 회원</a:t>
            </a:r>
            <a:endParaRPr lang="en-US" altLang="ko-KR" sz="1200" b="1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262626"/>
                </a:solidFill>
              </a:rPr>
              <a:t>가입</a:t>
            </a:r>
            <a:r>
              <a:rPr lang="en-US" altLang="ko-KR" sz="1200" b="1" dirty="0">
                <a:solidFill>
                  <a:srgbClr val="262626"/>
                </a:solidFill>
              </a:rPr>
              <a:t>~</a:t>
            </a:r>
            <a:r>
              <a:rPr lang="ko-KR" altLang="en-US" sz="1200" b="1" dirty="0">
                <a:solidFill>
                  <a:srgbClr val="262626"/>
                </a:solidFill>
              </a:rPr>
              <a:t>구매</a:t>
            </a:r>
            <a:r>
              <a:rPr lang="en-US" altLang="ko-KR" sz="1200" b="1" dirty="0">
                <a:solidFill>
                  <a:srgbClr val="262626"/>
                </a:solidFill>
              </a:rPr>
              <a:t>~</a:t>
            </a:r>
            <a:r>
              <a:rPr lang="ko-KR" altLang="en-US" sz="1200" b="1" dirty="0">
                <a:solidFill>
                  <a:srgbClr val="262626"/>
                </a:solidFill>
              </a:rPr>
              <a:t>재구매 </a:t>
            </a:r>
            <a:r>
              <a:rPr lang="en-US" altLang="ko-KR" sz="1200" b="1" dirty="0">
                <a:solidFill>
                  <a:srgbClr val="262626"/>
                </a:solidFill>
              </a:rPr>
              <a:t>CRM </a:t>
            </a:r>
            <a:r>
              <a:rPr lang="ko-KR" altLang="en-US" sz="1200" b="1" dirty="0">
                <a:solidFill>
                  <a:srgbClr val="262626"/>
                </a:solidFill>
              </a:rPr>
              <a:t>자동화</a:t>
            </a:r>
            <a:endParaRPr lang="en-US" altLang="ko-KR" sz="1200" b="1" dirty="0">
              <a:solidFill>
                <a:srgbClr val="262626"/>
              </a:solidFill>
            </a:endParaRPr>
          </a:p>
          <a:p>
            <a:pPr marL="180975" indent="-1809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FF0000"/>
                </a:solidFill>
              </a:rPr>
              <a:t>배송서비스 홍보 확대 추진</a:t>
            </a:r>
            <a:br>
              <a:rPr lang="en-US" altLang="ko-KR" sz="1200" b="1" dirty="0">
                <a:solidFill>
                  <a:srgbClr val="262626"/>
                </a:solidFill>
              </a:rPr>
            </a:br>
            <a:endParaRPr lang="en-US" altLang="ko-KR" sz="1200" dirty="0">
              <a:solidFill>
                <a:srgbClr val="262626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9186B7D-1AC6-4B2F-AD60-088FC6A15B1E}"/>
              </a:ext>
            </a:extLst>
          </p:cNvPr>
          <p:cNvSpPr/>
          <p:nvPr/>
        </p:nvSpPr>
        <p:spPr>
          <a:xfrm>
            <a:off x="960120" y="5285232"/>
            <a:ext cx="10268712" cy="365760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부채 해소 통한 성장 장애물 제거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DBEE4E-CD1D-4962-9F59-7512DE3F6C3B}"/>
              </a:ext>
            </a:extLst>
          </p:cNvPr>
          <p:cNvSpPr txBox="1"/>
          <p:nvPr/>
        </p:nvSpPr>
        <p:spPr>
          <a:xfrm>
            <a:off x="4564227" y="5751576"/>
            <a:ext cx="3063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180975" indent="-1809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0F172A"/>
                </a:solidFill>
              </a:rPr>
              <a:t>기술 </a:t>
            </a:r>
            <a:r>
              <a:rPr lang="en-US" altLang="ko-KR" sz="1200" b="1" dirty="0">
                <a:solidFill>
                  <a:srgbClr val="0F172A"/>
                </a:solidFill>
              </a:rPr>
              <a:t>: </a:t>
            </a:r>
            <a:r>
              <a:rPr lang="ko-KR" altLang="en-US" sz="1200" b="1" dirty="0">
                <a:solidFill>
                  <a:srgbClr val="0F172A"/>
                </a:solidFill>
              </a:rPr>
              <a:t>검색 기술 내재화</a:t>
            </a:r>
            <a:r>
              <a:rPr lang="en-US" altLang="ko-KR" sz="1200" b="1" dirty="0">
                <a:solidFill>
                  <a:srgbClr val="0F172A"/>
                </a:solidFill>
              </a:rPr>
              <a:t>, </a:t>
            </a:r>
            <a:r>
              <a:rPr lang="ko-KR" altLang="en-US" sz="1200" b="1" dirty="0">
                <a:solidFill>
                  <a:srgbClr val="0F172A"/>
                </a:solidFill>
              </a:rPr>
              <a:t>장애 대응</a:t>
            </a:r>
            <a:endParaRPr lang="en-US" altLang="ko-KR" sz="1200" b="1" dirty="0">
              <a:solidFill>
                <a:srgbClr val="0F172A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98B5DC-68C2-4A8C-8219-77262667BB19}"/>
              </a:ext>
            </a:extLst>
          </p:cNvPr>
          <p:cNvSpPr txBox="1"/>
          <p:nvPr/>
        </p:nvSpPr>
        <p:spPr>
          <a:xfrm>
            <a:off x="7929219" y="5751576"/>
            <a:ext cx="3063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180975" indent="-1809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0F172A"/>
                </a:solidFill>
              </a:rPr>
              <a:t>고객 </a:t>
            </a:r>
            <a:r>
              <a:rPr lang="en-US" altLang="ko-KR" sz="1200" b="1" dirty="0">
                <a:solidFill>
                  <a:srgbClr val="0F172A"/>
                </a:solidFill>
              </a:rPr>
              <a:t>: CS</a:t>
            </a:r>
            <a:r>
              <a:rPr lang="ko-KR" altLang="en-US" sz="1200" b="1" dirty="0">
                <a:solidFill>
                  <a:srgbClr val="0F172A"/>
                </a:solidFill>
              </a:rPr>
              <a:t> 속도 향상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3C67DF-5E60-45AF-AA80-A9592047354E}"/>
              </a:ext>
            </a:extLst>
          </p:cNvPr>
          <p:cNvSpPr txBox="1"/>
          <p:nvPr/>
        </p:nvSpPr>
        <p:spPr>
          <a:xfrm>
            <a:off x="960120" y="1764792"/>
            <a:ext cx="102687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300" b="1" dirty="0">
                <a:solidFill>
                  <a:srgbClr val="FFFFFF"/>
                </a:solidFill>
              </a:rPr>
              <a:t>5</a:t>
            </a:r>
            <a:r>
              <a:rPr lang="ko-KR" altLang="en-US" sz="1300" b="1" dirty="0">
                <a:solidFill>
                  <a:srgbClr val="FFFFFF"/>
                </a:solidFill>
              </a:rPr>
              <a:t>년 後</a:t>
            </a:r>
            <a:r>
              <a:rPr lang="en-US" altLang="ko-KR" sz="1300" b="1" dirty="0">
                <a:solidFill>
                  <a:srgbClr val="FFFFFF"/>
                </a:solidFill>
              </a:rPr>
              <a:t>(2031</a:t>
            </a:r>
            <a:r>
              <a:rPr lang="ko-KR" altLang="en-US" sz="1300" b="1" dirty="0">
                <a:solidFill>
                  <a:srgbClr val="FFFFFF"/>
                </a:solidFill>
              </a:rPr>
              <a:t>년</a:t>
            </a:r>
            <a:r>
              <a:rPr lang="en-US" altLang="ko-KR" sz="1300" b="1" dirty="0">
                <a:solidFill>
                  <a:srgbClr val="FFFFFF"/>
                </a:solidFill>
              </a:rPr>
              <a:t>)</a:t>
            </a:r>
            <a:r>
              <a:rPr lang="ko-KR" altLang="en-US" sz="1300" b="1" dirty="0">
                <a:solidFill>
                  <a:srgbClr val="FFFFFF"/>
                </a:solidFill>
              </a:rPr>
              <a:t> </a:t>
            </a:r>
            <a:r>
              <a:rPr lang="en-US" altLang="ko-KR" sz="1300" b="1" dirty="0">
                <a:solidFill>
                  <a:srgbClr val="FFFFFF"/>
                </a:solidFill>
              </a:rPr>
              <a:t>1</a:t>
            </a:r>
            <a:r>
              <a:rPr lang="ko-KR" altLang="en-US" sz="1300" b="1" dirty="0">
                <a:solidFill>
                  <a:srgbClr val="FFFFFF"/>
                </a:solidFill>
              </a:rPr>
              <a:t>조원 달성을 위한 초석 마련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356EEA-2AFC-4E02-991B-2E60760ED7E1}"/>
              </a:ext>
            </a:extLst>
          </p:cNvPr>
          <p:cNvSpPr txBox="1"/>
          <p:nvPr/>
        </p:nvSpPr>
        <p:spPr>
          <a:xfrm>
            <a:off x="3351276" y="1115568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2200" b="1" dirty="0">
                <a:solidFill>
                  <a:srgbClr val="FFFFFF"/>
                </a:solidFill>
              </a:rPr>
              <a:t>2027</a:t>
            </a:r>
            <a:r>
              <a:rPr lang="ko-KR" altLang="en-US" sz="2200" b="1" dirty="0">
                <a:solidFill>
                  <a:srgbClr val="FFFFFF"/>
                </a:solidFill>
              </a:rPr>
              <a:t>년 매출 </a:t>
            </a:r>
            <a:r>
              <a:rPr lang="en-US" altLang="ko-KR" sz="2200" b="1" dirty="0">
                <a:solidFill>
                  <a:srgbClr val="FFFFFF"/>
                </a:solidFill>
              </a:rPr>
              <a:t>3,200</a:t>
            </a:r>
            <a:r>
              <a:rPr lang="ko-KR" altLang="en-US" sz="2200" b="1" dirty="0">
                <a:solidFill>
                  <a:srgbClr val="FFFFFF"/>
                </a:solidFill>
              </a:rPr>
              <a:t>억 달성</a:t>
            </a:r>
          </a:p>
        </p:txBody>
      </p:sp>
      <p:sp>
        <p:nvSpPr>
          <p:cNvPr id="63" name="기둥1_번호">
            <a:extLst>
              <a:ext uri="{FF2B5EF4-FFF2-40B4-BE49-F238E27FC236}">
                <a16:creationId xmlns:a16="http://schemas.microsoft.com/office/drawing/2014/main" id="{683955D8-3E87-4160-BB4B-1335592DA11B}"/>
              </a:ext>
            </a:extLst>
          </p:cNvPr>
          <p:cNvSpPr/>
          <p:nvPr/>
        </p:nvSpPr>
        <p:spPr>
          <a:xfrm>
            <a:off x="2557119" y="2139696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4" name="기둥2_번호">
            <a:extLst>
              <a:ext uri="{FF2B5EF4-FFF2-40B4-BE49-F238E27FC236}">
                <a16:creationId xmlns:a16="http://schemas.microsoft.com/office/drawing/2014/main" id="{33BA2C36-DD6E-4E2D-AE44-7169AF0FE814}"/>
              </a:ext>
            </a:extLst>
          </p:cNvPr>
          <p:cNvSpPr/>
          <p:nvPr/>
        </p:nvSpPr>
        <p:spPr>
          <a:xfrm>
            <a:off x="5922111" y="2139696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65" name="기둥3_번호">
            <a:extLst>
              <a:ext uri="{FF2B5EF4-FFF2-40B4-BE49-F238E27FC236}">
                <a16:creationId xmlns:a16="http://schemas.microsoft.com/office/drawing/2014/main" id="{485ADA4A-56A5-47C3-9BA6-FB67605D5D09}"/>
              </a:ext>
            </a:extLst>
          </p:cNvPr>
          <p:cNvSpPr/>
          <p:nvPr/>
        </p:nvSpPr>
        <p:spPr>
          <a:xfrm>
            <a:off x="9287103" y="2139696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F172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706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9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① </a:t>
            </a:r>
            <a:r>
              <a:rPr lang="ko-KR" altLang="en-US" b="1" dirty="0" err="1"/>
              <a:t>전문몰</a:t>
            </a:r>
            <a:r>
              <a:rPr lang="ko-KR" altLang="en-US" b="1" dirty="0"/>
              <a:t> 확대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10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5FB22D4F-B797-40EC-8197-B13B6609A2F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614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② </a:t>
            </a:r>
            <a:r>
              <a:rPr lang="ko-KR" altLang="en-US" b="1" dirty="0" err="1"/>
              <a:t>결품율</a:t>
            </a:r>
            <a:r>
              <a:rPr lang="ko-KR" altLang="en-US" b="1" dirty="0"/>
              <a:t> </a:t>
            </a:r>
            <a:r>
              <a:rPr lang="en-US" altLang="ko-KR" b="1" dirty="0"/>
              <a:t>50% </a:t>
            </a:r>
            <a:r>
              <a:rPr lang="ko-KR" altLang="en-US" b="1" dirty="0"/>
              <a:t>감축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11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7" name="텍스트 개체 틀 6">
            <a:extLst>
              <a:ext uri="{FF2B5EF4-FFF2-40B4-BE49-F238E27FC236}">
                <a16:creationId xmlns:a16="http://schemas.microsoft.com/office/drawing/2014/main" id="{551FC0D7-6AE1-4090-8086-14067D29FA7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9714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83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③ 상품 적시 </a:t>
            </a:r>
            <a:r>
              <a:rPr lang="ko-KR" altLang="en-US" b="1" dirty="0" err="1"/>
              <a:t>등록률</a:t>
            </a:r>
            <a:r>
              <a:rPr lang="ko-KR" altLang="en-US" b="1" dirty="0"/>
              <a:t> </a:t>
            </a:r>
            <a:r>
              <a:rPr lang="en-US" altLang="ko-KR" b="1" dirty="0"/>
              <a:t>90%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12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7" name="텍스트 개체 틀 6">
            <a:extLst>
              <a:ext uri="{FF2B5EF4-FFF2-40B4-BE49-F238E27FC236}">
                <a16:creationId xmlns:a16="http://schemas.microsoft.com/office/drawing/2014/main" id="{551FC0D7-6AE1-4090-8086-14067D29FA7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8631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④ 익일 배송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50E3018-A4A2-41A0-BAA9-8AF702E430A1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51790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315577-61E7-4579-BCF3-3A06C6F01F50}"/>
              </a:ext>
            </a:extLst>
          </p:cNvPr>
          <p:cNvSpPr/>
          <p:nvPr/>
        </p:nvSpPr>
        <p:spPr>
          <a:xfrm>
            <a:off x="4207204" y="4260953"/>
            <a:ext cx="7413296" cy="20113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2E6F1D-779B-4C01-8030-C78653789393}"/>
              </a:ext>
            </a:extLst>
          </p:cNvPr>
          <p:cNvSpPr/>
          <p:nvPr/>
        </p:nvSpPr>
        <p:spPr>
          <a:xfrm>
            <a:off x="4207204" y="2358135"/>
            <a:ext cx="7413296" cy="18571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⑤ </a:t>
            </a:r>
            <a:r>
              <a:rPr lang="ko-KR" altLang="en-US" b="1" dirty="0" err="1"/>
              <a:t>무배</a:t>
            </a:r>
            <a:r>
              <a:rPr lang="ko-KR" altLang="en-US" b="1" dirty="0"/>
              <a:t> 기준 인하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14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02DB44F-884C-407B-A402-5087A4E35CD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세종센터의 높은 생산성을 기반으로 수익성을 확보하는 무료배송 기준 인하가 가능하며</a:t>
            </a:r>
            <a:endParaRPr lang="en-US" altLang="ko-KR" sz="1600" b="1" dirty="0">
              <a:ea typeface="맑은 고딕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이를 통해 </a:t>
            </a:r>
            <a:r>
              <a:rPr lang="ko-KR" altLang="en-US" sz="1600" b="1" dirty="0" err="1">
                <a:ea typeface="맑은 고딕"/>
              </a:rPr>
              <a:t>전환율</a:t>
            </a:r>
            <a:r>
              <a:rPr lang="ko-KR" altLang="en-US" sz="1600" b="1" dirty="0">
                <a:ea typeface="맑은 고딕"/>
              </a:rPr>
              <a:t> 성장과 구매빈도 성장시켜 매출 성장으로 직결시키겠습니다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59D83-D718-4D19-A8C4-767F0085A3A8}"/>
              </a:ext>
            </a:extLst>
          </p:cNvPr>
          <p:cNvSpPr txBox="1"/>
          <p:nvPr/>
        </p:nvSpPr>
        <p:spPr>
          <a:xfrm>
            <a:off x="368300" y="2641600"/>
            <a:ext cx="2959100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무료배송 기준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만원을 채우기에 실패한 고객들은 구매를 꺼리고 있습니다</a:t>
            </a:r>
            <a:r>
              <a:rPr lang="en-US" altLang="ko-KR" sz="1200" b="1" dirty="0"/>
              <a:t>.</a:t>
            </a:r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ko-KR" altLang="en-US" sz="1200" b="1" dirty="0"/>
              <a:t>장바구니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만원 미만 </a:t>
            </a:r>
            <a:r>
              <a:rPr lang="en-US" altLang="ko-KR" sz="1200" b="1" dirty="0"/>
              <a:t>: </a:t>
            </a:r>
            <a:r>
              <a:rPr lang="ko-KR" altLang="en-US" sz="1200" b="1" dirty="0" err="1"/>
              <a:t>전환율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0.4%</a:t>
            </a:r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ko-KR" altLang="en-US" sz="1200" b="1" dirty="0"/>
              <a:t>장바구니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만원 이상 </a:t>
            </a:r>
            <a:r>
              <a:rPr lang="en-US" altLang="ko-KR" sz="1200" b="1" dirty="0"/>
              <a:t>: </a:t>
            </a:r>
            <a:r>
              <a:rPr lang="ko-KR" altLang="en-US" sz="1200" b="1" dirty="0" err="1"/>
              <a:t>전환율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3.1%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A7CE7-8121-4662-B50C-34DD77F69C38}"/>
              </a:ext>
            </a:extLst>
          </p:cNvPr>
          <p:cNvSpPr txBox="1"/>
          <p:nvPr/>
        </p:nvSpPr>
        <p:spPr>
          <a:xfrm>
            <a:off x="333705" y="4006678"/>
            <a:ext cx="2959100" cy="199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통상 무료배송 기준은 손익 문제로 변경하지 못하나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기준 인하 時 성장하는 사례가 확인됩니다</a:t>
            </a:r>
            <a:r>
              <a:rPr lang="en-US" altLang="ko-KR" sz="1200" b="1" dirty="0"/>
              <a:t>.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월마트 </a:t>
            </a:r>
            <a:r>
              <a:rPr lang="en-US" altLang="ko-KR" sz="1200" dirty="0"/>
              <a:t>: ‘17</a:t>
            </a:r>
            <a:r>
              <a:rPr lang="ko-KR" altLang="en-US" sz="1200" dirty="0"/>
              <a:t>년 </a:t>
            </a:r>
            <a:r>
              <a:rPr lang="en-US" altLang="ko-KR" sz="1200" dirty="0"/>
              <a:t>$50 </a:t>
            </a:r>
            <a:r>
              <a:rPr lang="ko-KR" altLang="en-US" sz="1200" dirty="0"/>
              <a:t>→ </a:t>
            </a:r>
            <a:r>
              <a:rPr lang="en-US" altLang="ko-KR" sz="1200" dirty="0"/>
              <a:t>$35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전년대비 </a:t>
            </a:r>
            <a:r>
              <a:rPr lang="en-US" altLang="ko-KR" sz="1200" dirty="0"/>
              <a:t>60% </a:t>
            </a:r>
            <a:r>
              <a:rPr lang="ko-KR" altLang="en-US" sz="1200" dirty="0"/>
              <a:t>성장</a:t>
            </a:r>
            <a:br>
              <a:rPr lang="en-US" altLang="ko-KR" sz="1200" dirty="0"/>
            </a:br>
            <a:r>
              <a:rPr lang="en-US" altLang="ko-KR" sz="1200" dirty="0"/>
              <a:t>- Target : ’15</a:t>
            </a:r>
            <a:r>
              <a:rPr lang="ko-KR" altLang="en-US" sz="1200" dirty="0"/>
              <a:t>년 </a:t>
            </a:r>
            <a:r>
              <a:rPr lang="en-US" altLang="ko-KR" sz="1200" dirty="0"/>
              <a:t>$50 </a:t>
            </a:r>
            <a:r>
              <a:rPr lang="ko-KR" altLang="en-US" sz="1200" dirty="0"/>
              <a:t>→ </a:t>
            </a:r>
            <a:r>
              <a:rPr lang="en-US" altLang="ko-KR" sz="1200" dirty="0"/>
              <a:t>$25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전년대비 </a:t>
            </a:r>
            <a:r>
              <a:rPr lang="en-US" altLang="ko-KR" sz="1200" dirty="0"/>
              <a:t>40% </a:t>
            </a:r>
            <a:r>
              <a:rPr lang="ko-KR" altLang="en-US" sz="1200" dirty="0"/>
              <a:t>성장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B6888-FD14-4AC6-8EB6-29C694D883E4}"/>
              </a:ext>
            </a:extLst>
          </p:cNvPr>
          <p:cNvSpPr txBox="1"/>
          <p:nvPr/>
        </p:nvSpPr>
        <p:spPr>
          <a:xfrm>
            <a:off x="4207204" y="2358136"/>
            <a:ext cx="656239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전환율</a:t>
            </a:r>
            <a:r>
              <a:rPr lang="ko-KR" altLang="en-US" sz="1200" b="1" dirty="0"/>
              <a:t> 및 구매빈도 성장으로 단기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장기 매출이 모두 성장할 수 있도록 하겠습니다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0DF39-4107-4F33-B608-3FE9D5D73BF6}"/>
              </a:ext>
            </a:extLst>
          </p:cNvPr>
          <p:cNvSpPr txBox="1"/>
          <p:nvPr/>
        </p:nvSpPr>
        <p:spPr>
          <a:xfrm>
            <a:off x="4207204" y="4215323"/>
            <a:ext cx="6562396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객단가는 </a:t>
            </a:r>
            <a:r>
              <a:rPr lang="en-US" altLang="ko-KR" sz="1200" b="1" dirty="0"/>
              <a:t>31</a:t>
            </a:r>
            <a:r>
              <a:rPr lang="ko-KR" altLang="en-US" sz="1200" b="1" dirty="0"/>
              <a:t>천원 → </a:t>
            </a:r>
            <a:r>
              <a:rPr lang="en-US" altLang="ko-KR" sz="1200" b="1" dirty="0"/>
              <a:t>29</a:t>
            </a:r>
            <a:r>
              <a:rPr lang="ko-KR" altLang="en-US" sz="1200" b="1" dirty="0"/>
              <a:t>천원으로 소폭 하락하나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수익성은 유지될 수 있게 하겠습니다</a:t>
            </a:r>
            <a:r>
              <a:rPr lang="en-US" altLang="ko-KR" sz="1200" b="1" dirty="0"/>
              <a:t>.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무료배송 기준을 </a:t>
            </a:r>
            <a:r>
              <a:rPr lang="en-US" altLang="ko-KR" sz="1200" dirty="0"/>
              <a:t>5</a:t>
            </a:r>
            <a:r>
              <a:rPr lang="ko-KR" altLang="en-US" sz="1200" dirty="0"/>
              <a:t>천원 인하해도</a:t>
            </a:r>
            <a:r>
              <a:rPr lang="en-US" altLang="ko-KR" sz="1200" dirty="0"/>
              <a:t>, </a:t>
            </a:r>
            <a:r>
              <a:rPr lang="ko-KR" altLang="en-US" sz="1200" dirty="0"/>
              <a:t>전체 객단가는 </a:t>
            </a:r>
            <a:r>
              <a:rPr lang="en-US" altLang="ko-KR" sz="1200" dirty="0"/>
              <a:t>2</a:t>
            </a:r>
            <a:r>
              <a:rPr lang="ko-KR" altLang="en-US" sz="1200" dirty="0"/>
              <a:t>천원 하락 예상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세종의 물류생산성 개선</a:t>
            </a:r>
            <a:r>
              <a:rPr lang="en-US" altLang="ko-KR" sz="1200" dirty="0"/>
              <a:t>(8 </a:t>
            </a:r>
            <a:r>
              <a:rPr lang="ko-KR" altLang="en-US" sz="1200" dirty="0"/>
              <a:t>→ </a:t>
            </a:r>
            <a:r>
              <a:rPr lang="en-US" altLang="ko-KR" sz="1200" dirty="0"/>
              <a:t>15) </a:t>
            </a:r>
            <a:r>
              <a:rPr lang="ko-KR" altLang="en-US" sz="1200" dirty="0"/>
              <a:t>時 </a:t>
            </a:r>
            <a:r>
              <a:rPr lang="en-US" altLang="ko-KR" sz="1200" dirty="0"/>
              <a:t>EBITDA + 6.6%p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2B63E-777C-45B1-8E0D-300D91DB00D3}"/>
              </a:ext>
            </a:extLst>
          </p:cNvPr>
          <p:cNvSpPr txBox="1"/>
          <p:nvPr/>
        </p:nvSpPr>
        <p:spPr>
          <a:xfrm>
            <a:off x="4207204" y="6272293"/>
            <a:ext cx="722450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u="sng" dirty="0"/>
              <a:t>→ 세종센터 안정화 이후</a:t>
            </a:r>
            <a:r>
              <a:rPr lang="en-US" altLang="ko-KR" sz="1400" b="1" u="sng" dirty="0"/>
              <a:t>, </a:t>
            </a:r>
            <a:r>
              <a:rPr lang="ko-KR" altLang="en-US" sz="1400" b="1" u="sng" dirty="0"/>
              <a:t>테스트 통한 실효성 검증 이후 확대 시행하겠습니다</a:t>
            </a:r>
            <a:r>
              <a:rPr lang="en-US" altLang="ko-KR" sz="1400" b="1" u="sng" dirty="0"/>
              <a:t>.</a:t>
            </a:r>
            <a:endParaRPr lang="ko-KR" altLang="en-US" sz="1400" b="1" u="sng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72E332-5705-46BB-9E2C-7050F4A9C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72112"/>
              </p:ext>
            </p:extLst>
          </p:nvPr>
        </p:nvGraphicFramePr>
        <p:xfrm>
          <a:off x="4675312" y="2904375"/>
          <a:ext cx="675640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416660044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8985431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12098191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84900261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088213438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1834102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879816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25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26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27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31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ysClr val="windowText" lastClr="000000"/>
                          </a:solidFill>
                        </a:rPr>
                        <a:t>성장율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(26~27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ysClr val="windowText" lastClr="000000"/>
                          </a:solidFill>
                        </a:rPr>
                        <a:t>성장율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(26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~31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년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95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ysClr val="windowText" lastClr="000000"/>
                          </a:solidFill>
                        </a:rPr>
                        <a:t>전환율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3.4%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3.2%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3.4%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4.2%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+6%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+31%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265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구매빈도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1.28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1.28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1.4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1.7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+9%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+33%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69793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E57394-3F96-4E89-BAD3-9CF617981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14927"/>
              </p:ext>
            </p:extLst>
          </p:nvPr>
        </p:nvGraphicFramePr>
        <p:xfrm>
          <a:off x="4624512" y="5088404"/>
          <a:ext cx="675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23477274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719924209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9710611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944535797"/>
                    </a:ext>
                  </a:extLst>
                </a:gridCol>
              </a:tblGrid>
              <a:tr h="26365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27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904714"/>
                  </a:ext>
                </a:extLst>
              </a:tr>
              <a:tr h="263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주문단가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31,340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29,200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14559"/>
                  </a:ext>
                </a:extLst>
              </a:tr>
              <a:tr h="263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EBITDA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2,617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(9.2%)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4,190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(15.8%)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1749"/>
                  </a:ext>
                </a:extLst>
              </a:tr>
              <a:tr h="263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영업이익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1,416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(5%)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03954"/>
                  </a:ext>
                </a:extLst>
              </a:tr>
            </a:tbl>
          </a:graphicData>
        </a:graphic>
      </p:graphicFrame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CDC7187E-48B1-4C8B-96E0-95B072D96A1A}"/>
              </a:ext>
            </a:extLst>
          </p:cNvPr>
          <p:cNvSpPr/>
          <p:nvPr/>
        </p:nvSpPr>
        <p:spPr>
          <a:xfrm rot="5400000">
            <a:off x="2396598" y="4127869"/>
            <a:ext cx="2619705" cy="279400"/>
          </a:xfrm>
          <a:prstGeom prst="triangl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A901E-952A-4149-94ED-790E1FA56020}"/>
              </a:ext>
            </a:extLst>
          </p:cNvPr>
          <p:cNvSpPr txBox="1"/>
          <p:nvPr/>
        </p:nvSpPr>
        <p:spPr>
          <a:xfrm>
            <a:off x="4207204" y="1816100"/>
            <a:ext cx="7814814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u="sng" dirty="0"/>
              <a:t>세종센터 생산성 기반</a:t>
            </a:r>
            <a:r>
              <a:rPr lang="en-US" altLang="ko-KR" sz="1400" b="1" u="sng" dirty="0"/>
              <a:t>, </a:t>
            </a:r>
            <a:r>
              <a:rPr lang="ko-KR" altLang="en-US" sz="1400" b="1" u="sng" dirty="0"/>
              <a:t>무료배송 기준 인하를 통해 고객 니즈 충족 </a:t>
            </a:r>
            <a:r>
              <a:rPr lang="en-US" altLang="ko-KR" sz="1400" b="1" u="sng" dirty="0"/>
              <a:t>+ </a:t>
            </a:r>
            <a:r>
              <a:rPr lang="ko-KR" altLang="en-US" sz="1400" b="1" u="sng" dirty="0"/>
              <a:t>매출 성장 동시 추진</a:t>
            </a:r>
          </a:p>
        </p:txBody>
      </p:sp>
    </p:spTree>
    <p:extLst>
      <p:ext uri="{BB962C8B-B14F-4D97-AF65-F5344CB8AC3E}">
        <p14:creationId xmlns:p14="http://schemas.microsoft.com/office/powerpoint/2010/main" val="1538636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15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592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</a:t>
            </a:r>
            <a:r>
              <a:rPr lang="ko-KR" altLang="en-US" b="1" dirty="0"/>
              <a:t>매출 시뮬레이션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15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02DB44F-884C-407B-A402-5087A4E35CD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세종센터의 높은 생산성을 기반으로 무료배송 기준 인하가 가능하며</a:t>
            </a:r>
            <a:endParaRPr lang="en-US" altLang="ko-KR" sz="1600" b="1" dirty="0">
              <a:ea typeface="맑은 고딕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이는 </a:t>
            </a:r>
            <a:r>
              <a:rPr lang="ko-KR" altLang="en-US" sz="1600" b="1" dirty="0" err="1">
                <a:ea typeface="맑은 고딕"/>
              </a:rPr>
              <a:t>전환율</a:t>
            </a:r>
            <a:r>
              <a:rPr lang="ko-KR" altLang="en-US" sz="1600" b="1" dirty="0">
                <a:ea typeface="맑은 고딕"/>
              </a:rPr>
              <a:t> 성장과 재구매율 성장으로 직결될 것입니다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06F6FE-60FE-4C70-AD03-0E4B0FE543C9}"/>
              </a:ext>
            </a:extLst>
          </p:cNvPr>
          <p:cNvSpPr/>
          <p:nvPr/>
        </p:nvSpPr>
        <p:spPr>
          <a:xfrm>
            <a:off x="469900" y="2034496"/>
            <a:ext cx="5041900" cy="453548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객단가가 왜 </a:t>
            </a:r>
            <a:r>
              <a:rPr lang="en-US" altLang="ko-KR" sz="1400" b="1" dirty="0">
                <a:solidFill>
                  <a:schemeClr val="bg1"/>
                </a:solidFill>
              </a:rPr>
              <a:t>26</a:t>
            </a:r>
            <a:r>
              <a:rPr lang="ko-KR" altLang="en-US" sz="1400" b="1" dirty="0">
                <a:solidFill>
                  <a:schemeClr val="bg1"/>
                </a:solidFill>
              </a:rPr>
              <a:t>천원이 아니고</a:t>
            </a:r>
            <a:br>
              <a:rPr lang="en-US" altLang="ko-KR" sz="1400" b="1" dirty="0">
                <a:solidFill>
                  <a:schemeClr val="bg1"/>
                </a:solidFill>
              </a:rPr>
            </a:br>
            <a:r>
              <a:rPr lang="en-US" altLang="ko-KR" sz="1400" b="1" dirty="0">
                <a:solidFill>
                  <a:schemeClr val="bg1"/>
                </a:solidFill>
              </a:rPr>
              <a:t>29</a:t>
            </a:r>
            <a:r>
              <a:rPr lang="ko-KR" altLang="en-US" sz="1400" b="1" dirty="0">
                <a:solidFill>
                  <a:schemeClr val="bg1"/>
                </a:solidFill>
              </a:rPr>
              <a:t>천원이 되는지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그래프로 그려서 이해 시키는 그림</a:t>
            </a:r>
            <a:br>
              <a:rPr lang="en-US" altLang="ko-KR" sz="1400" b="1" dirty="0">
                <a:solidFill>
                  <a:schemeClr val="bg1"/>
                </a:solidFill>
              </a:rPr>
            </a:br>
            <a:br>
              <a:rPr lang="en-US" altLang="ko-KR" sz="1400" b="1" dirty="0">
                <a:solidFill>
                  <a:schemeClr val="bg1"/>
                </a:solidFill>
              </a:rPr>
            </a:br>
            <a:r>
              <a:rPr lang="ko-KR" altLang="en-US" sz="1400" b="1" dirty="0">
                <a:solidFill>
                  <a:schemeClr val="bg1"/>
                </a:solidFill>
              </a:rPr>
              <a:t>금액대별로 분포도 그림이 바뀌는 느낌으로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04C16D-B345-4F88-B48D-0CBDDD70B9AE}"/>
              </a:ext>
            </a:extLst>
          </p:cNvPr>
          <p:cNvSpPr/>
          <p:nvPr/>
        </p:nvSpPr>
        <p:spPr>
          <a:xfrm>
            <a:off x="6680200" y="2034496"/>
            <a:ext cx="5041900" cy="453548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S1</a:t>
            </a:r>
            <a:r>
              <a:rPr lang="ko-KR" altLang="en-US" sz="1400" b="1" dirty="0">
                <a:solidFill>
                  <a:schemeClr val="bg1"/>
                </a:solidFill>
              </a:rPr>
              <a:t>과 </a:t>
            </a:r>
            <a:r>
              <a:rPr lang="en-US" altLang="ko-KR" sz="1400" b="1" dirty="0">
                <a:solidFill>
                  <a:schemeClr val="bg1"/>
                </a:solidFill>
              </a:rPr>
              <a:t>S3 </a:t>
            </a:r>
            <a:r>
              <a:rPr lang="ko-KR" altLang="en-US" sz="1400" b="1" dirty="0">
                <a:solidFill>
                  <a:schemeClr val="bg1"/>
                </a:solidFill>
              </a:rPr>
              <a:t>두개의 주요 지표를 표로 그려서 비교할 것</a:t>
            </a:r>
            <a:br>
              <a:rPr lang="en-US" altLang="ko-KR" sz="1400" b="1" dirty="0">
                <a:solidFill>
                  <a:schemeClr val="bg1"/>
                </a:solidFill>
              </a:rPr>
            </a:br>
            <a:r>
              <a:rPr lang="en-US" altLang="ko-KR" sz="1400" b="1" dirty="0">
                <a:solidFill>
                  <a:schemeClr val="bg1"/>
                </a:solidFill>
              </a:rPr>
              <a:t>2027</a:t>
            </a:r>
            <a:r>
              <a:rPr lang="ko-KR" altLang="en-US" sz="1400" b="1" dirty="0">
                <a:solidFill>
                  <a:schemeClr val="bg1"/>
                </a:solidFill>
              </a:rPr>
              <a:t>년 </a:t>
            </a:r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r>
              <a:rPr lang="ko-KR" altLang="en-US" sz="1400" b="1" dirty="0">
                <a:solidFill>
                  <a:schemeClr val="bg1"/>
                </a:solidFill>
              </a:rPr>
              <a:t>월</a:t>
            </a:r>
            <a:r>
              <a:rPr lang="en-US" altLang="ko-KR" sz="1400" b="1" dirty="0">
                <a:solidFill>
                  <a:schemeClr val="bg1"/>
                </a:solidFill>
              </a:rPr>
              <a:t>~31</a:t>
            </a:r>
            <a:r>
              <a:rPr lang="ko-KR" altLang="en-US" sz="1400" b="1" dirty="0">
                <a:solidFill>
                  <a:schemeClr val="bg1"/>
                </a:solidFill>
              </a:rPr>
              <a:t>년까지 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년 </a:t>
            </a:r>
            <a:r>
              <a:rPr lang="en-US" altLang="ko-KR" sz="1400" b="1" dirty="0">
                <a:solidFill>
                  <a:schemeClr val="bg1"/>
                </a:solidFill>
              </a:rPr>
              <a:t>: </a:t>
            </a:r>
            <a:r>
              <a:rPr lang="ko-KR" altLang="en-US" sz="1400" b="1" dirty="0">
                <a:solidFill>
                  <a:schemeClr val="bg1"/>
                </a:solidFill>
              </a:rPr>
              <a:t>연평균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주요지표 </a:t>
            </a:r>
            <a:r>
              <a:rPr lang="en-US" altLang="ko-KR" sz="1400" b="1" dirty="0">
                <a:solidFill>
                  <a:schemeClr val="bg1"/>
                </a:solidFill>
              </a:rPr>
              <a:t>: </a:t>
            </a:r>
            <a:r>
              <a:rPr lang="ko-KR" altLang="en-US" sz="1400" b="1" dirty="0">
                <a:solidFill>
                  <a:schemeClr val="bg1"/>
                </a:solidFill>
              </a:rPr>
              <a:t>매월 구매고객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구매빈도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구매건수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매출액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19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</a:t>
            </a:r>
            <a:r>
              <a:rPr lang="ko-KR" altLang="en-US" b="1" dirty="0"/>
              <a:t>수익성 시뮬레이션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02DB44F-884C-407B-A402-5087A4E35CD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세종센터의 높은 생산성을 기반으로 무료배송 기준 인하가 가능하며</a:t>
            </a:r>
            <a:endParaRPr lang="en-US" altLang="ko-KR" sz="1600" b="1" dirty="0">
              <a:ea typeface="맑은 고딕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이는 </a:t>
            </a:r>
            <a:r>
              <a:rPr lang="ko-KR" altLang="en-US" sz="1600" b="1" dirty="0" err="1">
                <a:ea typeface="맑은 고딕"/>
              </a:rPr>
              <a:t>전환율</a:t>
            </a:r>
            <a:r>
              <a:rPr lang="ko-KR" altLang="en-US" sz="1600" b="1" dirty="0">
                <a:ea typeface="맑은 고딕"/>
              </a:rPr>
              <a:t> 성장과 재구매율 성장으로 직결될 것입니다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0539A7-33CE-4024-9367-242269AA8989}"/>
              </a:ext>
            </a:extLst>
          </p:cNvPr>
          <p:cNvSpPr/>
          <p:nvPr/>
        </p:nvSpPr>
        <p:spPr>
          <a:xfrm>
            <a:off x="469899" y="2034496"/>
            <a:ext cx="10941049" cy="453548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택배 </a:t>
            </a:r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r>
              <a:rPr lang="ko-KR" altLang="en-US" sz="1400" b="1" dirty="0">
                <a:solidFill>
                  <a:schemeClr val="bg1"/>
                </a:solidFill>
              </a:rPr>
              <a:t>건 당 손익 계산서 상세 버전</a:t>
            </a:r>
          </a:p>
        </p:txBody>
      </p:sp>
    </p:spTree>
    <p:extLst>
      <p:ext uri="{BB962C8B-B14F-4D97-AF65-F5344CB8AC3E}">
        <p14:creationId xmlns:p14="http://schemas.microsoft.com/office/powerpoint/2010/main" val="3202320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</a:t>
            </a:r>
            <a:r>
              <a:rPr lang="ko-KR" altLang="en-US" b="1" dirty="0"/>
              <a:t>테스트 계획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17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EA3C05-8DE4-4D9D-B49E-B203B03653A5}"/>
              </a:ext>
            </a:extLst>
          </p:cNvPr>
          <p:cNvSpPr/>
          <p:nvPr/>
        </p:nvSpPr>
        <p:spPr>
          <a:xfrm>
            <a:off x="469899" y="2034496"/>
            <a:ext cx="11150601" cy="453548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무료배송 효과성 </a:t>
            </a:r>
            <a:r>
              <a:rPr lang="en-US" altLang="ko-KR" sz="1400" b="1" dirty="0">
                <a:solidFill>
                  <a:schemeClr val="bg1"/>
                </a:solidFill>
              </a:rPr>
              <a:t>Test</a:t>
            </a: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아래 내용이 들어가는 추진 계획을 개념도 형태로 작성할 것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고객을 크게 두개의 동질적 코호트 집단으로 나눔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가입기간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성별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연령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지역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구매경험</a:t>
            </a:r>
            <a:r>
              <a:rPr lang="en-US" altLang="ko-KR" sz="1400" b="1" dirty="0">
                <a:solidFill>
                  <a:schemeClr val="bg1"/>
                </a:solidFill>
              </a:rPr>
              <a:t>)</a:t>
            </a: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그룹 </a:t>
            </a:r>
            <a:r>
              <a:rPr lang="en-US" altLang="ko-KR" sz="1400" b="1" dirty="0">
                <a:solidFill>
                  <a:schemeClr val="bg1"/>
                </a:solidFill>
              </a:rPr>
              <a:t>A : 25</a:t>
            </a:r>
            <a:r>
              <a:rPr lang="ko-KR" altLang="en-US" sz="1400" b="1" dirty="0">
                <a:solidFill>
                  <a:schemeClr val="bg1"/>
                </a:solidFill>
              </a:rPr>
              <a:t>천원 무료배송 쿠폰 월 </a:t>
            </a:r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r>
              <a:rPr lang="ko-KR" altLang="en-US" sz="1400" b="1" dirty="0">
                <a:solidFill>
                  <a:schemeClr val="bg1"/>
                </a:solidFill>
              </a:rPr>
              <a:t>개 지급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그룹 </a:t>
            </a:r>
            <a:r>
              <a:rPr lang="en-US" altLang="ko-KR" sz="1400" b="1" dirty="0">
                <a:solidFill>
                  <a:schemeClr val="bg1"/>
                </a:solidFill>
              </a:rPr>
              <a:t>B : </a:t>
            </a:r>
            <a:r>
              <a:rPr lang="ko-KR" altLang="en-US" sz="1400" b="1" dirty="0">
                <a:solidFill>
                  <a:schemeClr val="bg1"/>
                </a:solidFill>
              </a:rPr>
              <a:t>현재와 같은 </a:t>
            </a:r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r>
              <a:rPr lang="ko-KR" altLang="en-US" sz="1400" b="1" dirty="0">
                <a:solidFill>
                  <a:schemeClr val="bg1"/>
                </a:solidFill>
              </a:rPr>
              <a:t>만원 무료배송유지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r>
              <a:rPr lang="ko-KR" altLang="en-US" sz="1400" b="1" dirty="0">
                <a:solidFill>
                  <a:schemeClr val="bg1"/>
                </a:solidFill>
              </a:rPr>
              <a:t>개월간 실험의 목적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그룹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r>
              <a:rPr lang="ko-KR" altLang="en-US" sz="1400" b="1" dirty="0">
                <a:solidFill>
                  <a:schemeClr val="bg1"/>
                </a:solidFill>
              </a:rPr>
              <a:t>의 </a:t>
            </a:r>
            <a:r>
              <a:rPr lang="en-US" altLang="ko-KR" sz="1400" b="1" dirty="0">
                <a:solidFill>
                  <a:schemeClr val="bg1"/>
                </a:solidFill>
              </a:rPr>
              <a:t>1. </a:t>
            </a:r>
            <a:r>
              <a:rPr lang="ko-KR" altLang="en-US" sz="1400" b="1" dirty="0">
                <a:solidFill>
                  <a:schemeClr val="bg1"/>
                </a:solidFill>
              </a:rPr>
              <a:t>구매횟수가 증가하는가 </a:t>
            </a:r>
            <a:r>
              <a:rPr lang="en-US" altLang="ko-KR" sz="1400" b="1" dirty="0">
                <a:solidFill>
                  <a:schemeClr val="bg1"/>
                </a:solidFill>
              </a:rPr>
              <a:t>2. </a:t>
            </a:r>
            <a:r>
              <a:rPr lang="ko-KR" altLang="en-US" sz="1400" b="1" dirty="0">
                <a:solidFill>
                  <a:schemeClr val="bg1"/>
                </a:solidFill>
              </a:rPr>
              <a:t>전환율이 높은가 </a:t>
            </a:r>
            <a:r>
              <a:rPr lang="en-US" altLang="ko-KR" sz="1400" b="1" dirty="0">
                <a:solidFill>
                  <a:schemeClr val="bg1"/>
                </a:solidFill>
              </a:rPr>
              <a:t>3. </a:t>
            </a:r>
            <a:r>
              <a:rPr lang="ko-KR" altLang="en-US" sz="1400" b="1" dirty="0">
                <a:solidFill>
                  <a:schemeClr val="bg1"/>
                </a:solidFill>
              </a:rPr>
              <a:t>객단가는 얼마인가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이를 통해 실측이 효과 검증되면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바로 전체 회원 대상 </a:t>
            </a:r>
            <a:r>
              <a:rPr lang="en-US" altLang="ko-KR" sz="1400" b="1" dirty="0">
                <a:solidFill>
                  <a:schemeClr val="bg1"/>
                </a:solidFill>
              </a:rPr>
              <a:t>25</a:t>
            </a:r>
            <a:r>
              <a:rPr lang="ko-KR" altLang="en-US" sz="1400" b="1" dirty="0">
                <a:solidFill>
                  <a:schemeClr val="bg1"/>
                </a:solidFill>
              </a:rPr>
              <a:t>천원 무료배송 추진</a:t>
            </a:r>
          </a:p>
        </p:txBody>
      </p:sp>
    </p:spTree>
    <p:extLst>
      <p:ext uri="{BB962C8B-B14F-4D97-AF65-F5344CB8AC3E}">
        <p14:creationId xmlns:p14="http://schemas.microsoft.com/office/powerpoint/2010/main" val="1032438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9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⑥ 문제 해결형 </a:t>
            </a:r>
            <a:r>
              <a:rPr lang="en-US" altLang="ko-KR" b="1" dirty="0"/>
              <a:t>AI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18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4ADE5B4F-CEC4-49E9-8654-98E1C2C57B9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2015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5B31FF3-2543-42B2-B69D-C64429C3C165}"/>
              </a:ext>
            </a:extLst>
          </p:cNvPr>
          <p:cNvSpPr txBox="1"/>
          <p:nvPr/>
        </p:nvSpPr>
        <p:spPr>
          <a:xfrm>
            <a:off x="3949700" y="2038665"/>
            <a:ext cx="7670800" cy="393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1" dirty="0"/>
              <a:t>회원체계 혁신으로 회원 체계 장애물 제거 → 회원 가입 가속화 추진 </a:t>
            </a:r>
            <a:r>
              <a:rPr lang="en-US" altLang="ko-KR" sz="1200" b="1" i="1" dirty="0"/>
              <a:t>(27</a:t>
            </a:r>
            <a:r>
              <a:rPr lang="ko-KR" altLang="en-US" sz="1200" b="1" i="1" dirty="0"/>
              <a:t>년 상반기 內 완료</a:t>
            </a:r>
            <a:r>
              <a:rPr lang="en-US" altLang="ko-KR" sz="1200" b="1" i="1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① </a:t>
            </a:r>
            <a:r>
              <a:rPr lang="en-US" altLang="ko-KR" sz="1200" b="1" dirty="0"/>
              <a:t>SNS </a:t>
            </a:r>
            <a:r>
              <a:rPr lang="ko-KR" altLang="en-US" sz="1200" b="1" dirty="0"/>
              <a:t>기반 회원 가입 </a:t>
            </a:r>
            <a:r>
              <a:rPr lang="en-US" altLang="ko-KR" sz="1200" b="1" dirty="0"/>
              <a:t>: </a:t>
            </a:r>
            <a:r>
              <a:rPr lang="ko-KR" altLang="en-US" sz="1200" dirty="0"/>
              <a:t>카카오</a:t>
            </a:r>
            <a:r>
              <a:rPr lang="en-US" altLang="ko-KR" sz="1200" dirty="0"/>
              <a:t>, </a:t>
            </a:r>
            <a:r>
              <a:rPr lang="ko-KR" altLang="en-US" sz="1200" dirty="0"/>
              <a:t>네이버</a:t>
            </a:r>
            <a:r>
              <a:rPr lang="en-US" altLang="ko-KR" sz="1200" dirty="0"/>
              <a:t>, </a:t>
            </a:r>
            <a:r>
              <a:rPr lang="ko-KR" altLang="en-US" sz="1200" dirty="0"/>
              <a:t>구글 </a:t>
            </a:r>
            <a:r>
              <a:rPr lang="en-US" altLang="ko-KR" sz="1200" dirty="0"/>
              <a:t>ID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br>
              <a:rPr lang="en-US" altLang="ko-KR" sz="1200" dirty="0"/>
            </a:br>
            <a:r>
              <a:rPr lang="ko-KR" altLang="en-US" sz="1200" b="1" dirty="0"/>
              <a:t>② 이메일 </a:t>
            </a:r>
            <a:r>
              <a:rPr lang="en-US" altLang="ko-KR" sz="1200" b="1" dirty="0"/>
              <a:t>ID </a:t>
            </a:r>
            <a:r>
              <a:rPr lang="ko-KR" altLang="en-US" sz="1200" b="1" dirty="0"/>
              <a:t>가입 가능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외국인등록번호 </a:t>
            </a:r>
            <a:r>
              <a:rPr lang="ko-KR" altLang="en-US" sz="1200" b="1" dirty="0" err="1"/>
              <a:t>미보유</a:t>
            </a:r>
            <a:r>
              <a:rPr lang="ko-KR" altLang="en-US" sz="1200" b="1" dirty="0"/>
              <a:t> 외국인</a:t>
            </a:r>
            <a:r>
              <a:rPr lang="en-US" altLang="ko-KR" sz="1200" b="1" dirty="0"/>
              <a:t> or </a:t>
            </a:r>
            <a:r>
              <a:rPr lang="ko-KR" altLang="en-US" sz="1200" b="1" dirty="0"/>
              <a:t>전화번호 </a:t>
            </a:r>
            <a:r>
              <a:rPr lang="ko-KR" altLang="en-US" sz="1200" b="1" dirty="0" err="1"/>
              <a:t>미보유</a:t>
            </a:r>
            <a:r>
              <a:rPr lang="ko-KR" altLang="en-US" sz="1200" b="1" dirty="0"/>
              <a:t> 고객 가입 가능</a:t>
            </a:r>
            <a:br>
              <a:rPr lang="en-US" altLang="ko-KR" sz="1200" dirty="0"/>
            </a:b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③ 본인인증 수단 확대로 편의성 제고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카카오</a:t>
            </a:r>
            <a:r>
              <a:rPr lang="en-US" altLang="ko-KR" sz="1200" dirty="0"/>
              <a:t>/</a:t>
            </a:r>
            <a:r>
              <a:rPr lang="ko-KR" altLang="en-US" sz="1200" dirty="0"/>
              <a:t>네이버 인증서 기반 본인인증 도입 </a:t>
            </a:r>
            <a:r>
              <a:rPr lang="en-US" altLang="ko-KR" sz="1200" dirty="0"/>
              <a:t>(</a:t>
            </a:r>
            <a:r>
              <a:rPr lang="ko-KR" altLang="en-US" sz="1200" dirty="0"/>
              <a:t>전화번호 인증 대비 비용 </a:t>
            </a:r>
            <a:r>
              <a:rPr lang="en-US" altLang="ko-KR" sz="1200" dirty="0"/>
              <a:t>50% </a:t>
            </a:r>
            <a:r>
              <a:rPr lang="ko-KR" altLang="en-US" sz="1200" dirty="0"/>
              <a:t>절감</a:t>
            </a:r>
            <a:r>
              <a:rPr lang="en-US" altLang="ko-KR" sz="1200" dirty="0"/>
              <a:t>, </a:t>
            </a:r>
            <a:r>
              <a:rPr lang="ko-KR" altLang="en-US" sz="1200" dirty="0"/>
              <a:t>편의성 높음</a:t>
            </a:r>
            <a:r>
              <a:rPr lang="en-US" altLang="ko-KR" sz="1200" dirty="0"/>
              <a:t>)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790C0A6-9BD6-4430-AE0D-7F99DA1F3247}"/>
              </a:ext>
            </a:extLst>
          </p:cNvPr>
          <p:cNvSpPr/>
          <p:nvPr/>
        </p:nvSpPr>
        <p:spPr>
          <a:xfrm>
            <a:off x="8646079" y="3308026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가입완료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5784BB7A-545C-4B37-AAD6-6A6BF7A6ECD8}"/>
              </a:ext>
            </a:extLst>
          </p:cNvPr>
          <p:cNvSpPr/>
          <p:nvPr/>
        </p:nvSpPr>
        <p:spPr>
          <a:xfrm>
            <a:off x="8646079" y="3947591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가입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완료</a:t>
            </a: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74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⑦ 회원가입 장애물 제거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19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FE7DC93-D1A6-4165-B473-D68F96E1AABF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과거 멤버십 회원체계를 혁신하여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고객이 원하는 형태로 자유롭게 가입하고 이용 가능하게 변경하겠습니다</a:t>
            </a:r>
            <a:r>
              <a:rPr lang="en-US" altLang="ko-KR" sz="1600" b="1" dirty="0">
                <a:ea typeface="맑은 고딕"/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이를 통해 회원 가입 속도를 지속 성장시키겠습니다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02EB99-CA94-42BF-8443-C6223894DE04}"/>
              </a:ext>
            </a:extLst>
          </p:cNvPr>
          <p:cNvSpPr/>
          <p:nvPr/>
        </p:nvSpPr>
        <p:spPr>
          <a:xfrm>
            <a:off x="255781" y="3534287"/>
            <a:ext cx="2920333" cy="3078545"/>
          </a:xfrm>
          <a:prstGeom prst="rect">
            <a:avLst/>
          </a:prstGeom>
          <a:solidFill>
            <a:srgbClr val="F2F2F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err="1">
              <a:solidFill>
                <a:schemeClr val="bg1"/>
              </a:solidFill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8164BB40-E4BD-471B-BE15-8D92672F2977}"/>
              </a:ext>
            </a:extLst>
          </p:cNvPr>
          <p:cNvSpPr txBox="1"/>
          <p:nvPr/>
        </p:nvSpPr>
        <p:spPr>
          <a:xfrm>
            <a:off x="268093" y="3649768"/>
            <a:ext cx="288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/>
              <a:t>[ </a:t>
            </a:r>
            <a:r>
              <a:rPr lang="ko-KR" altLang="en-US" sz="1200" b="1"/>
              <a:t>제약사항 </a:t>
            </a:r>
            <a:r>
              <a:rPr lang="en-US" altLang="ko-KR" sz="1200" b="1"/>
              <a:t>]</a:t>
            </a:r>
            <a:endParaRPr lang="ko-KR" altLang="en-US" sz="12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27910-C232-41CB-9B52-E6CE4288582E}"/>
              </a:ext>
            </a:extLst>
          </p:cNvPr>
          <p:cNvSpPr txBox="1"/>
          <p:nvPr/>
        </p:nvSpPr>
        <p:spPr>
          <a:xfrm>
            <a:off x="368300" y="3917748"/>
            <a:ext cx="2788824" cy="2549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</a:t>
            </a:r>
            <a:r>
              <a:rPr lang="en-US" altLang="ko-KR" sz="1200" b="1" dirty="0"/>
              <a:t>SNS </a:t>
            </a:r>
            <a:r>
              <a:rPr lang="ko-KR" altLang="en-US" sz="1200" b="1" dirty="0"/>
              <a:t>가입 불가능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카카오</a:t>
            </a:r>
            <a:r>
              <a:rPr lang="en-US" altLang="ko-KR" sz="1200" dirty="0"/>
              <a:t>, </a:t>
            </a:r>
            <a:r>
              <a:rPr lang="ko-KR" altLang="en-US" sz="1200" dirty="0"/>
              <a:t>네이버</a:t>
            </a:r>
            <a:r>
              <a:rPr lang="en-US" altLang="ko-KR" sz="1200" dirty="0"/>
              <a:t>, </a:t>
            </a:r>
            <a:r>
              <a:rPr lang="ko-KR" altLang="en-US" sz="1200" dirty="0"/>
              <a:t>구글 </a:t>
            </a:r>
            <a:r>
              <a:rPr lang="en-US" altLang="ko-KR" sz="1200" dirty="0"/>
              <a:t>ID </a:t>
            </a:r>
            <a:r>
              <a:rPr lang="ko-KR" altLang="en-US" sz="1200" dirty="0"/>
              <a:t>가입 불가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br>
              <a:rPr lang="en-US" altLang="ko-KR" sz="1200" dirty="0"/>
            </a:br>
            <a:r>
              <a:rPr lang="ko-KR" altLang="en-US" sz="1200" b="1" dirty="0"/>
              <a:t>② 본인인증 필수 입력 中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해당 단계에서 이탈자 다수 발생</a:t>
            </a:r>
            <a:br>
              <a:rPr lang="en-US" altLang="ko-KR" sz="1200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본인명의 휴대폰 미보유자 가입 </a:t>
            </a:r>
            <a:r>
              <a:rPr lang="en-US" altLang="ko-KR" sz="1200" dirty="0"/>
              <a:t>X</a:t>
            </a:r>
            <a:br>
              <a:rPr lang="en-US" altLang="ko-KR" sz="1200" dirty="0"/>
            </a:b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③ 국내 단기 체류자 가입 불가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주민번호</a:t>
            </a:r>
            <a:r>
              <a:rPr lang="en-US" altLang="ko-KR" sz="1200" dirty="0"/>
              <a:t>/</a:t>
            </a:r>
            <a:r>
              <a:rPr lang="ko-KR" altLang="en-US" sz="1200" dirty="0"/>
              <a:t>외국인번호 필수</a:t>
            </a:r>
            <a:endParaRPr lang="en-US" altLang="ko-KR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E2B7A-CCBA-42F9-BBD8-896376C0C77E}"/>
              </a:ext>
            </a:extLst>
          </p:cNvPr>
          <p:cNvSpPr txBox="1"/>
          <p:nvPr/>
        </p:nvSpPr>
        <p:spPr>
          <a:xfrm>
            <a:off x="268093" y="2038665"/>
            <a:ext cx="2788824" cy="1441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다이소몰</a:t>
            </a:r>
            <a:r>
              <a:rPr lang="ko-KR" altLang="en-US" sz="1200" b="1" dirty="0"/>
              <a:t> 회원체계는 과거 </a:t>
            </a:r>
            <a:r>
              <a:rPr lang="ko-KR" altLang="en-US" sz="1200" b="1" dirty="0" err="1"/>
              <a:t>다이소</a:t>
            </a:r>
            <a:r>
              <a:rPr lang="ko-KR" altLang="en-US" sz="1200" b="1" dirty="0"/>
              <a:t> 멤버십 회원체계를 승계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CI </a:t>
            </a:r>
            <a:r>
              <a:rPr lang="ko-KR" altLang="en-US" sz="1200" b="1" dirty="0"/>
              <a:t>기반 회원 체계 운영 中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주민등록번호 </a:t>
            </a:r>
            <a:r>
              <a:rPr lang="en-US" altLang="ko-KR" sz="1200" dirty="0"/>
              <a:t>or </a:t>
            </a:r>
            <a:r>
              <a:rPr lang="ko-KR" altLang="en-US" sz="1200" dirty="0"/>
              <a:t>외국인등록번호</a:t>
            </a:r>
            <a:br>
              <a:rPr lang="en-US" altLang="ko-KR" sz="1200" dirty="0"/>
            </a:br>
            <a:r>
              <a:rPr lang="ko-KR" altLang="en-US" sz="1200" dirty="0"/>
              <a:t>보유자만 회원가입 가능</a:t>
            </a:r>
            <a:endParaRPr lang="en-US" altLang="ko-KR" sz="1200" dirty="0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B384B0F7-8E8C-4AF6-B885-83A16EF5A479}"/>
              </a:ext>
            </a:extLst>
          </p:cNvPr>
          <p:cNvSpPr/>
          <p:nvPr/>
        </p:nvSpPr>
        <p:spPr>
          <a:xfrm rot="5400000">
            <a:off x="2170678" y="3902786"/>
            <a:ext cx="2950568" cy="219917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0E4C37F5-AC54-4F70-99D0-9EC6C16924A6}"/>
              </a:ext>
            </a:extLst>
          </p:cNvPr>
          <p:cNvSpPr/>
          <p:nvPr/>
        </p:nvSpPr>
        <p:spPr>
          <a:xfrm>
            <a:off x="7699802" y="3308026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정보입력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(5</a:t>
            </a:r>
            <a:r>
              <a:rPr lang="ko-KR" altLang="en-US" sz="1000" b="1" dirty="0">
                <a:solidFill>
                  <a:schemeClr val="tx1"/>
                </a:solidFill>
              </a:rPr>
              <a:t>개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E87F31A-B5D1-420E-8D4E-A54B00E7D45C}"/>
              </a:ext>
            </a:extLst>
          </p:cNvPr>
          <p:cNvSpPr/>
          <p:nvPr/>
        </p:nvSpPr>
        <p:spPr>
          <a:xfrm>
            <a:off x="6753525" y="3308026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본인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ko-KR" altLang="en-US" sz="1000" b="1" dirty="0">
                <a:solidFill>
                  <a:schemeClr val="tx1"/>
                </a:solidFill>
              </a:rPr>
              <a:t>인증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AD29075F-7DF2-4B38-901A-95E9F5C117DE}"/>
              </a:ext>
            </a:extLst>
          </p:cNvPr>
          <p:cNvSpPr/>
          <p:nvPr/>
        </p:nvSpPr>
        <p:spPr>
          <a:xfrm>
            <a:off x="5807248" y="3308027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약관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동의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C9E0B41-4AD4-46DC-83B9-FDC65CFA1D13}"/>
              </a:ext>
            </a:extLst>
          </p:cNvPr>
          <p:cNvSpPr/>
          <p:nvPr/>
        </p:nvSpPr>
        <p:spPr>
          <a:xfrm>
            <a:off x="4864273" y="3308027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가입시작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567C3-2C0F-4068-B118-F3678C463241}"/>
              </a:ext>
            </a:extLst>
          </p:cNvPr>
          <p:cNvSpPr txBox="1"/>
          <p:nvPr/>
        </p:nvSpPr>
        <p:spPr>
          <a:xfrm>
            <a:off x="4286865" y="3399504"/>
            <a:ext cx="57410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현재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FB9A68-CACC-4FA5-9EB3-B26085A0DC3F}"/>
              </a:ext>
            </a:extLst>
          </p:cNvPr>
          <p:cNvSpPr txBox="1"/>
          <p:nvPr/>
        </p:nvSpPr>
        <p:spPr>
          <a:xfrm>
            <a:off x="4291781" y="4033684"/>
            <a:ext cx="57410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추진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7539146-6151-434C-972A-BF587C9F9695}"/>
              </a:ext>
            </a:extLst>
          </p:cNvPr>
          <p:cNvSpPr/>
          <p:nvPr/>
        </p:nvSpPr>
        <p:spPr>
          <a:xfrm>
            <a:off x="7721240" y="3947591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</a:rPr>
              <a:t>정보입력</a:t>
            </a:r>
            <a:endParaRPr lang="en-US" altLang="ko-KR" sz="1000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</a:rPr>
              <a:t>(5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</a:rPr>
              <a:t>개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31F3BA79-232C-41CD-A4F3-0F9067EF36EE}"/>
              </a:ext>
            </a:extLst>
          </p:cNvPr>
          <p:cNvSpPr/>
          <p:nvPr/>
        </p:nvSpPr>
        <p:spPr>
          <a:xfrm>
            <a:off x="6774963" y="3947591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</a:rPr>
              <a:t>본인</a:t>
            </a:r>
            <a:br>
              <a:rPr lang="en-US" altLang="ko-KR" sz="10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</a:rPr>
              <a:t>인증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63F1A55-E8FE-402A-88BF-0694A3327DF3}"/>
              </a:ext>
            </a:extLst>
          </p:cNvPr>
          <p:cNvSpPr/>
          <p:nvPr/>
        </p:nvSpPr>
        <p:spPr>
          <a:xfrm>
            <a:off x="5807248" y="3947592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약관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동의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3B25419-CC52-4C47-8D8E-EABCF1DAD108}"/>
              </a:ext>
            </a:extLst>
          </p:cNvPr>
          <p:cNvSpPr/>
          <p:nvPr/>
        </p:nvSpPr>
        <p:spPr>
          <a:xfrm>
            <a:off x="4864273" y="3947592"/>
            <a:ext cx="1098993" cy="499868"/>
          </a:xfrm>
          <a:prstGeom prst="rightArrow">
            <a:avLst>
              <a:gd name="adj1" fmla="val 100000"/>
              <a:gd name="adj2" fmla="val 2713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SNS 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ko-KR" altLang="en-US" sz="10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793174-DE91-449B-8162-3E253DC1B73A}"/>
              </a:ext>
            </a:extLst>
          </p:cNvPr>
          <p:cNvSpPr txBox="1"/>
          <p:nvPr/>
        </p:nvSpPr>
        <p:spPr>
          <a:xfrm>
            <a:off x="6906241" y="4378635"/>
            <a:ext cx="160849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/>
              <a:t>자동 입력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65886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⑧ 자동 </a:t>
            </a:r>
            <a:r>
              <a:rPr lang="en-US" altLang="ko-KR" b="1" dirty="0"/>
              <a:t>CRM </a:t>
            </a:r>
            <a:r>
              <a:rPr lang="ko-KR" altLang="en-US" b="1" dirty="0"/>
              <a:t>도입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20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0F92D6CB-B4CA-4CD0-B5D9-36247D70FD36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1670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⑨ 부채 해소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21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8550CDA4-864B-4983-9FC4-491AC4F11AA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9394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8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31</a:t>
            </a:r>
            <a:r>
              <a:rPr lang="ko-KR" altLang="en-US" b="1" dirty="0"/>
              <a:t>년 주요 지표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5C8462-3947-4AF0-850C-D5E324963502}"/>
              </a:ext>
            </a:extLst>
          </p:cNvPr>
          <p:cNvSpPr txBox="1"/>
          <p:nvPr/>
        </p:nvSpPr>
        <p:spPr>
          <a:xfrm>
            <a:off x="336551" y="637971"/>
            <a:ext cx="1151889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/>
              <a:t>물류 혁신과 서비스 혁신을 통해 성장하는 원년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22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302789"/>
              </p:ext>
            </p:extLst>
          </p:nvPr>
        </p:nvGraphicFramePr>
        <p:xfrm>
          <a:off x="786581" y="1808162"/>
          <a:ext cx="10823890" cy="45354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70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2027년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2028년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2029년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2030년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2031년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(억원)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3,100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3,800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4,459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5,081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5,665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3,</a:t>
                      </a:r>
                      <a:r>
                        <a:rPr lang="en-US" altLang="ko-KR"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200</a:t>
                      </a:r>
                      <a:endParaRPr sz="950" b="0" dirty="0">
                        <a:solidFill>
                          <a:srgbClr val="009A9A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4,2</a:t>
                      </a:r>
                      <a:r>
                        <a:rPr lang="en-US" altLang="ko-KR"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00</a:t>
                      </a:r>
                      <a:endParaRPr sz="950" b="0" dirty="0">
                        <a:solidFill>
                          <a:srgbClr val="009A9A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6,000</a:t>
                      </a:r>
                      <a:endParaRPr sz="950" b="0" dirty="0">
                        <a:solidFill>
                          <a:srgbClr val="009A9A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7,868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10,011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성장률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+35%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+23%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+27%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회원수</a:t>
                      </a:r>
                      <a:r>
                        <a:rPr sz="950" b="1" dirty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50" b="1" dirty="0" err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만명</a:t>
                      </a:r>
                      <a:r>
                        <a:rPr sz="950" b="1" dirty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950" b="1" dirty="0" err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연말</a:t>
                      </a:r>
                      <a:r>
                        <a:rPr sz="950" b="1" dirty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1,302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1,566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1,815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2,048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2,269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1,325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1,674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2,012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2,340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2,662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월 신규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누적 구매고객 (만명, 연말)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678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1,029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558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901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1,065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1,226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활동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71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122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164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195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잔존율 (12월)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11.4%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12.4%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구매빈도 (건/월,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1.57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객단가 (원,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dirty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4599315-2208-4EBF-8622-D42D0A4D9F23}"/>
              </a:ext>
            </a:extLst>
          </p:cNvPr>
          <p:cNvSpPr/>
          <p:nvPr/>
        </p:nvSpPr>
        <p:spPr>
          <a:xfrm>
            <a:off x="504825" y="1304925"/>
            <a:ext cx="11420475" cy="523915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7681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THINKCELLPRESENTATIONDONOTDELETE" val="&lt;?xml version=&quot;1.0&quot; encoding=&quot;UTF-16&quot; standalone=&quot;yes&quot;?&gt;&lt;root reqver=&quot;28224&quot;&gt;&lt;version val=&quot;351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80975" indent="-180975">
          <a:lnSpc>
            <a:spcPct val="150000"/>
          </a:lnSpc>
          <a:buFont typeface="Arial" panose="020B0604020202020204" pitchFamily="34" charset="0"/>
          <a:buChar char="•"/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345B86-EBBA-4D41-8A89-0747765B9D25}">
  <we:reference id="wa104380121" version="2.0.0.0" store="ko-KR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DF6325839054091B968FE762E97E1" ma:contentTypeVersion="4" ma:contentTypeDescription="새 문서를 만듭니다." ma:contentTypeScope="" ma:versionID="87ba5a900f05938296de5105c301d5b1">
  <xsd:schema xmlns:xsd="http://www.w3.org/2001/XMLSchema" xmlns:xs="http://www.w3.org/2001/XMLSchema" xmlns:p="http://schemas.microsoft.com/office/2006/metadata/properties" xmlns:ns2="d81390df-f2d4-4bdc-8b83-8119f0d60425" targetNamespace="http://schemas.microsoft.com/office/2006/metadata/properties" ma:root="true" ma:fieldsID="65fd6f65ec8750357d90e6bbd91ae10a" ns2:_="">
    <xsd:import namespace="d81390df-f2d4-4bdc-8b83-8119f0d604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390df-f2d4-4bdc-8b83-8119f0d604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F3EA3A-3A6E-4091-AED1-8BE4C09E68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2B7C3D-CEE0-4DA3-AA26-AAADBE11ED3F}">
  <ds:schemaRefs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d81390df-f2d4-4bdc-8b83-8119f0d60425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7AC0194-C9CF-4161-98A2-1845A47A54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390df-f2d4-4bdc-8b83-8119f0d604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179085</TotalTime>
  <Words>2372</Words>
  <Application>Microsoft Office PowerPoint</Application>
  <PresentationFormat>와이드스크린</PresentationFormat>
  <Paragraphs>518</Paragraphs>
  <Slides>22</Slides>
  <Notes>22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이상협</dc:creator>
  <cp:lastModifiedBy>AD2302001P01</cp:lastModifiedBy>
  <cp:revision>7063</cp:revision>
  <cp:lastPrinted>2026-08-31T07:53:02Z</cp:lastPrinted>
  <dcterms:created xsi:type="dcterms:W3CDTF">2023-03-11T01:13:24Z</dcterms:created>
  <dcterms:modified xsi:type="dcterms:W3CDTF">2026-10-09T06:03:04Z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2023-08-13T06:28:57Z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0e31cc1f-f96a-4d48-bf7b-594a7997dffc</vt:lpwstr>
  </property>
  <property fmtid="{D5CDD505-2E9C-101B-9397-08002B2CF9AE}" pid="8" name="MSIP_Label_b0d5c4f4-7a29-4385-b7a5-afbe2154ae6f_ContentBits">
    <vt:lpwstr>0</vt:lpwstr>
  </property>
  <property fmtid="{D5CDD505-2E9C-101B-9397-08002B2CF9AE}" pid="9" name="ContentTypeId">
    <vt:lpwstr>0x010100C5FDF6325839054091B968FE762E97E1</vt:lpwstr>
  </property>
  <property fmtid="{D5CDD505-2E9C-101B-9397-08002B2CF9AE}" pid="10" name="MediaServiceImageTags">
    <vt:lpwstr/>
  </property>
</Properties>
</file>